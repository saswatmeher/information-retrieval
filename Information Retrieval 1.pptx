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y="5143500" cx="9144000"/>
  <p:notesSz cx="6858000" cy="9144000"/>
  <p:embeddedFontLst>
    <p:embeddedFont>
      <p:font typeface="Proxima Nova"/>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111F5EB-F34F-4730-90EF-3539E5E23B15}">
  <a:tblStyle styleId="{6111F5EB-F34F-4730-90EF-3539E5E23B1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roximaNova-italic.fntdata"/><Relationship Id="rId20" Type="http://schemas.openxmlformats.org/officeDocument/2006/relationships/slide" Target="slides/slide14.xml"/><Relationship Id="rId41" Type="http://schemas.openxmlformats.org/officeDocument/2006/relationships/font" Target="fonts/ProximaNova-boldItalic.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ProximaNova-bold.fntdata"/><Relationship Id="rId16" Type="http://schemas.openxmlformats.org/officeDocument/2006/relationships/slide" Target="slides/slide10.xml"/><Relationship Id="rId38" Type="http://schemas.openxmlformats.org/officeDocument/2006/relationships/font" Target="fonts/ProximaNova-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e07dd6cea2_0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e07dd6cea2_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e07dd6cea2_0_1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e07dd6cea2_0_1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e07dd6cea2_0_1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e07dd6cea2_0_1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e07dd6cea2_0_13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e07dd6cea2_0_13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e07dd6cea2_0_1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e07dd6cea2_0_1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e07dd6cea2_0_1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e07dd6cea2_0_1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e07dd6cea2_0_1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e07dd6cea2_0_1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e07dd6cea2_0_13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e07dd6cea2_0_13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e07dd6cea2_0_1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e07dd6cea2_0_1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e07dd6cea2_0_13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e07dd6cea2_0_13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e07dd6cea2_0_1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e07dd6cea2_0_1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07dd6cea2_0_1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e07dd6cea2_0_1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e07dd6cea2_0_1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e07dd6cea2_0_1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e07dd6cea2_0_14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e07dd6cea2_0_14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e07dd6cea2_0_14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e07dd6cea2_0_1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e07dd6cea2_0_14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e07dd6cea2_0_14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e07dd6cea2_0_14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e07dd6cea2_0_14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07dd6cea2_0_14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e07dd6cea2_0_14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e07dd6cea2_0_1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e07dd6cea2_0_1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e07dd6cea2_0_15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e07dd6cea2_0_1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07dd6cea2_0_15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e07dd6cea2_0_15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e09a58aaf3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e09a58aaf3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e09a58aaf3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e09a58aaf3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e09a58aaf3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e09a58aaf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e09a58aaf3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e09a58aaf3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e09a58aaf3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e09a58aaf3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e07dd6cea2_0_14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e07dd6cea2_0_14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e07dd6cea2_0_14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e07dd6cea2_0_14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e07dd6cea2_0_15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e07dd6cea2_0_1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e09a58aaf3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e09a58aaf3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1" name="Google Shape;11;p2"/>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2" name="Google Shape;12;p2"/>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6" name="Google Shape;16;p3"/>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 name="Google Shape;3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41" name="Google Shape;41;p9"/>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68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071300"/>
            <a:ext cx="8520600" cy="901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nlp.stanford.edu/IR-book/html/htmledition/irbook.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0.jpg"/><Relationship Id="rId4" Type="http://schemas.openxmlformats.org/officeDocument/2006/relationships/hyperlink" Target="https://www.komprise.com/glossary_terms/unstructured-data/"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hyperlink" Target="https://www.samsung.com/in/support/mobile-devices/use-gallery-search-in-galaxy-devices/?srsltid=AfmBOooD1TRjJfi8p7qAX35m1VLXPtpAEpXWCrB3xm4EoKWf9699b8BZ"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11.png"/><Relationship Id="rId5" Type="http://schemas.openxmlformats.org/officeDocument/2006/relationships/hyperlink" Target="https://www.samsung.com/uk/support/mobile-devices/how-to-use-the-circle-to-search-feature-on-the-galaxy-s24/"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hyperlink" Target="https://dl.acm.org/doi/fullHtml/10.1145/3569966.3570004"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hyperlink" Target="https://nlp.stanford.edu/IR-book/html/htmledition/irbook.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8.png"/><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hyperlink" Target="https://web.stanford.edu/class/cs276/handouts/efficient_scoring_cs276_2013_6.pdf"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hyperlink" Target="https://web.stanford.edu/class/cs276/handouts/efficient_scoring_cs276_2013_6.pdf"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hyperlink" Target="https://nlp.stanford.edu/IR-book/html/htmledition/index-construction-1.htm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Information Retrieval</a:t>
            </a:r>
            <a:endParaRPr/>
          </a:p>
        </p:txBody>
      </p:sp>
      <p:sp>
        <p:nvSpPr>
          <p:cNvPr id="60" name="Google Shape;60;p13"/>
          <p:cNvSpPr txBox="1"/>
          <p:nvPr>
            <p:ph idx="1" type="subTitle"/>
          </p:nvPr>
        </p:nvSpPr>
        <p:spPr>
          <a:xfrm>
            <a:off x="510450" y="3182325"/>
            <a:ext cx="8535600" cy="630000"/>
          </a:xfrm>
          <a:prstGeom prst="rect">
            <a:avLst/>
          </a:prstGeom>
        </p:spPr>
        <p:txBody>
          <a:bodyPr anchorCtr="0" anchor="t" bIns="91425" lIns="91425" spcFirstLastPara="1" rIns="91425" wrap="square" tIns="91425">
            <a:normAutofit fontScale="70000"/>
          </a:bodyPr>
          <a:lstStyle/>
          <a:p>
            <a:pPr indent="0" lvl="0" marL="0" rtl="0" algn="l">
              <a:spcBef>
                <a:spcPts val="0"/>
              </a:spcBef>
              <a:spcAft>
                <a:spcPts val="0"/>
              </a:spcAft>
              <a:buNone/>
            </a:pPr>
            <a:r>
              <a:rPr lang="en-GB"/>
              <a:t>Week 1: Introduction and Foundations of IR - "Why" and the "How" of traditional systems</a:t>
            </a:r>
            <a:endParaRPr/>
          </a:p>
        </p:txBody>
      </p:sp>
      <p:sp>
        <p:nvSpPr>
          <p:cNvPr id="61" name="Google Shape;61;p13"/>
          <p:cNvSpPr txBox="1"/>
          <p:nvPr/>
        </p:nvSpPr>
        <p:spPr>
          <a:xfrm>
            <a:off x="7000050" y="4250675"/>
            <a:ext cx="1633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accent3"/>
                </a:solidFill>
                <a:latin typeface="Proxima Nova"/>
                <a:ea typeface="Proxima Nova"/>
                <a:cs typeface="Proxima Nova"/>
                <a:sym typeface="Proxima Nova"/>
              </a:rPr>
              <a:t>Saswat Meher</a:t>
            </a:r>
            <a:endParaRPr sz="1800">
              <a:solidFill>
                <a:schemeClr val="accent3"/>
              </a:solidFill>
              <a:latin typeface="Proxima Nova"/>
              <a:ea typeface="Proxima Nova"/>
              <a:cs typeface="Proxima Nova"/>
              <a:sym typeface="Proxima Nov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Introduction to Information Retrieval (IR)</a:t>
            </a:r>
            <a:endParaRPr/>
          </a:p>
          <a:p>
            <a:pPr indent="-317500" lvl="1" marL="914400" rtl="0" algn="l">
              <a:spcBef>
                <a:spcPts val="0"/>
              </a:spcBef>
              <a:spcAft>
                <a:spcPts val="0"/>
              </a:spcAft>
              <a:buSzPts val="1400"/>
              <a:buChar char="○"/>
            </a:pPr>
            <a:r>
              <a:rPr lang="en-GB"/>
              <a:t>What is IR</a:t>
            </a:r>
            <a:endParaRPr/>
          </a:p>
          <a:p>
            <a:pPr indent="-317500" lvl="1" marL="914400" rtl="0" algn="l">
              <a:spcBef>
                <a:spcPts val="0"/>
              </a:spcBef>
              <a:spcAft>
                <a:spcPts val="0"/>
              </a:spcAft>
              <a:buSzPts val="1400"/>
              <a:buChar char="○"/>
            </a:pPr>
            <a:r>
              <a:rPr lang="en-GB"/>
              <a:t>Why do we need IR</a:t>
            </a:r>
            <a:endParaRPr/>
          </a:p>
          <a:p>
            <a:pPr indent="-317500" lvl="1" marL="914400" rtl="0" algn="l">
              <a:spcBef>
                <a:spcPts val="0"/>
              </a:spcBef>
              <a:spcAft>
                <a:spcPts val="0"/>
              </a:spcAft>
              <a:buSzPts val="1400"/>
              <a:buChar char="○"/>
            </a:pPr>
            <a:r>
              <a:rPr lang="en-GB"/>
              <a:t>Where do we need IR</a:t>
            </a:r>
            <a:endParaRPr/>
          </a:p>
          <a:p>
            <a:pPr indent="-342900" lvl="0" marL="457200" rtl="0" algn="l">
              <a:spcBef>
                <a:spcPts val="0"/>
              </a:spcBef>
              <a:spcAft>
                <a:spcPts val="0"/>
              </a:spcAft>
              <a:buSzPts val="1800"/>
              <a:buChar char="●"/>
            </a:pPr>
            <a:r>
              <a:rPr lang="en-GB"/>
              <a:t>How does IR works</a:t>
            </a:r>
            <a:endParaRPr/>
          </a:p>
          <a:p>
            <a:pPr indent="-342900" lvl="0" marL="457200" rtl="0" algn="l">
              <a:spcBef>
                <a:spcPts val="0"/>
              </a:spcBef>
              <a:spcAft>
                <a:spcPts val="0"/>
              </a:spcAft>
              <a:buSzPts val="1800"/>
              <a:buChar char="●"/>
            </a:pPr>
            <a:r>
              <a:rPr lang="en-GB"/>
              <a:t>Evolution of IR</a:t>
            </a:r>
            <a:endParaRPr/>
          </a:p>
          <a:p>
            <a:pPr indent="-342900" lvl="0" marL="457200" rtl="0" algn="l">
              <a:spcBef>
                <a:spcPts val="0"/>
              </a:spcBef>
              <a:spcAft>
                <a:spcPts val="0"/>
              </a:spcAft>
              <a:buSzPts val="1800"/>
              <a:buChar char="●"/>
            </a:pPr>
            <a:r>
              <a:rPr lang="en-GB"/>
              <a:t>Classical systems for IR</a:t>
            </a:r>
            <a:endParaRPr/>
          </a:p>
          <a:p>
            <a:pPr indent="-342900" lvl="0" marL="457200" rtl="0" algn="l">
              <a:spcBef>
                <a:spcPts val="0"/>
              </a:spcBef>
              <a:spcAft>
                <a:spcPts val="0"/>
              </a:spcAft>
              <a:buSzPts val="1800"/>
              <a:buChar char="●"/>
            </a:pPr>
            <a:r>
              <a:rPr lang="en-GB"/>
              <a:t>Foreshadowing</a:t>
            </a:r>
            <a:r>
              <a:rPr lang="en-GB"/>
              <a:t> of </a:t>
            </a:r>
            <a:r>
              <a:rPr lang="en-GB"/>
              <a:t>upcoming contents</a:t>
            </a:r>
            <a:endParaRPr/>
          </a:p>
          <a:p>
            <a:pPr indent="-342900" lvl="0" marL="457200" rtl="0" algn="l">
              <a:spcBef>
                <a:spcPts val="0"/>
              </a:spcBef>
              <a:spcAft>
                <a:spcPts val="0"/>
              </a:spcAft>
              <a:buSzPts val="1800"/>
              <a:buChar char="●"/>
            </a:pPr>
            <a:r>
              <a:rPr lang="en-GB"/>
              <a:t>Demo for classical IR system</a:t>
            </a:r>
            <a:endParaRPr/>
          </a:p>
          <a:p>
            <a:pPr indent="0" lvl="0" marL="0" rtl="0" algn="l">
              <a:spcBef>
                <a:spcPts val="1200"/>
              </a:spcBef>
              <a:spcAft>
                <a:spcPts val="1200"/>
              </a:spcAft>
              <a:buNone/>
            </a:pPr>
            <a:r>
              <a:rPr lang="en-GB" u="sng">
                <a:solidFill>
                  <a:schemeClr val="hlink"/>
                </a:solidFill>
                <a:hlinkClick r:id="rId3"/>
              </a:rPr>
              <a:t>https://nlp.stanford.edu/IR-book/html/htmledition/irbook.html</a:t>
            </a:r>
            <a:endParaRPr/>
          </a:p>
        </p:txBody>
      </p:sp>
      <p:sp>
        <p:nvSpPr>
          <p:cNvPr id="67" name="Google Shape;67;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Contents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Information retrieval (IR) is </a:t>
            </a:r>
            <a:r>
              <a:rPr b="1" lang="en-GB"/>
              <a:t>‘finding</a:t>
            </a:r>
            <a:r>
              <a:rPr lang="en-GB"/>
              <a:t> </a:t>
            </a:r>
            <a:r>
              <a:rPr b="1" lang="en-GB"/>
              <a:t>material’</a:t>
            </a:r>
            <a:r>
              <a:rPr lang="en-GB"/>
              <a:t> (usually documents) of an </a:t>
            </a:r>
            <a:r>
              <a:rPr b="1" lang="en-GB"/>
              <a:t>unstructured</a:t>
            </a:r>
            <a:r>
              <a:rPr lang="en-GB"/>
              <a:t> nature (usually text) that satisfies an ‘</a:t>
            </a:r>
            <a:r>
              <a:rPr b="1" lang="en-GB"/>
              <a:t>information need’</a:t>
            </a:r>
            <a:r>
              <a:rPr lang="en-GB"/>
              <a:t> from within ‘</a:t>
            </a:r>
            <a:r>
              <a:rPr b="1" lang="en-GB"/>
              <a:t>large collections</a:t>
            </a:r>
            <a:r>
              <a:rPr lang="en-GB"/>
              <a:t>’ (usually stored on computers). </a:t>
            </a:r>
            <a:endParaRPr/>
          </a:p>
          <a:p>
            <a:pPr indent="0" lvl="0" marL="0" rtl="0" algn="l">
              <a:spcBef>
                <a:spcPts val="1200"/>
              </a:spcBef>
              <a:spcAft>
                <a:spcPts val="0"/>
              </a:spcAft>
              <a:buNone/>
            </a:pPr>
            <a:r>
              <a:rPr b="1" lang="en-GB"/>
              <a:t>‘finding</a:t>
            </a:r>
            <a:r>
              <a:rPr lang="en-GB"/>
              <a:t> </a:t>
            </a:r>
            <a:r>
              <a:rPr b="1" lang="en-GB"/>
              <a:t>material’</a:t>
            </a:r>
            <a:r>
              <a:rPr lang="en-GB"/>
              <a:t> - Retrieval</a:t>
            </a:r>
            <a:endParaRPr/>
          </a:p>
          <a:p>
            <a:pPr indent="0" lvl="0" marL="0" rtl="0" algn="l">
              <a:spcBef>
                <a:spcPts val="1200"/>
              </a:spcBef>
              <a:spcAft>
                <a:spcPts val="0"/>
              </a:spcAft>
              <a:buNone/>
            </a:pPr>
            <a:r>
              <a:rPr lang="en-GB"/>
              <a:t>‘</a:t>
            </a:r>
            <a:r>
              <a:rPr b="1" lang="en-GB"/>
              <a:t>information need’ </a:t>
            </a:r>
            <a:r>
              <a:rPr lang="en-GB"/>
              <a:t>- Query</a:t>
            </a:r>
            <a:r>
              <a:rPr b="1" lang="en-GB"/>
              <a:t> </a:t>
            </a:r>
            <a:endParaRPr b="1"/>
          </a:p>
          <a:p>
            <a:pPr indent="0" lvl="0" marL="0" rtl="0" algn="l">
              <a:spcBef>
                <a:spcPts val="1200"/>
              </a:spcBef>
              <a:spcAft>
                <a:spcPts val="1200"/>
              </a:spcAft>
              <a:buNone/>
            </a:pPr>
            <a:r>
              <a:rPr lang="en-GB"/>
              <a:t>‘</a:t>
            </a:r>
            <a:r>
              <a:rPr b="1" lang="en-GB"/>
              <a:t>large unstructured collections</a:t>
            </a:r>
            <a:r>
              <a:rPr lang="en-GB"/>
              <a:t>’ - Corpus</a:t>
            </a:r>
            <a:endParaRPr b="1"/>
          </a:p>
        </p:txBody>
      </p:sp>
      <p:sp>
        <p:nvSpPr>
          <p:cNvPr id="73" name="Google Shape;73;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What is Information retrieval?</a:t>
            </a:r>
            <a:endParaRPr/>
          </a:p>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Information Retrieval vs Data Retrieval </a:t>
            </a:r>
            <a:endParaRPr/>
          </a:p>
        </p:txBody>
      </p:sp>
      <p:graphicFrame>
        <p:nvGraphicFramePr>
          <p:cNvPr id="79" name="Google Shape;79;p16"/>
          <p:cNvGraphicFramePr/>
          <p:nvPr/>
        </p:nvGraphicFramePr>
        <p:xfrm>
          <a:off x="311700" y="1327075"/>
          <a:ext cx="3000000" cy="3000000"/>
        </p:xfrm>
        <a:graphic>
          <a:graphicData uri="http://schemas.openxmlformats.org/drawingml/2006/table">
            <a:tbl>
              <a:tblPr>
                <a:noFill/>
                <a:tableStyleId>{6111F5EB-F34F-4730-90EF-3539E5E23B15}</a:tableStyleId>
              </a:tblPr>
              <a:tblGrid>
                <a:gridCol w="1866125"/>
                <a:gridCol w="2536775"/>
                <a:gridCol w="3617850"/>
              </a:tblGrid>
              <a:tr h="238125">
                <a:tc>
                  <a:txBody>
                    <a:bodyPr/>
                    <a:lstStyle/>
                    <a:p>
                      <a:pPr indent="0" lvl="0" marL="0" rtl="0" algn="l">
                        <a:lnSpc>
                          <a:spcPct val="115000"/>
                        </a:lnSpc>
                        <a:spcBef>
                          <a:spcPts val="0"/>
                        </a:spcBef>
                        <a:spcAft>
                          <a:spcPts val="0"/>
                        </a:spcAft>
                        <a:buNone/>
                      </a:pPr>
                      <a:r>
                        <a:rPr b="1" lang="en-GB" sz="1800">
                          <a:solidFill>
                            <a:schemeClr val="accent3"/>
                          </a:solidFill>
                          <a:latin typeface="Proxima Nova"/>
                          <a:ea typeface="Proxima Nova"/>
                          <a:cs typeface="Proxima Nova"/>
                          <a:sym typeface="Proxima Nova"/>
                        </a:rPr>
                        <a:t>Feature</a:t>
                      </a:r>
                      <a:endParaRPr b="1" sz="1800">
                        <a:solidFill>
                          <a:schemeClr val="accent3"/>
                        </a:solidFill>
                        <a:latin typeface="Proxima Nova"/>
                        <a:ea typeface="Proxima Nova"/>
                        <a:cs typeface="Proxima Nova"/>
                        <a:sym typeface="Proxima Nova"/>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GB" sz="1800">
                          <a:solidFill>
                            <a:schemeClr val="accent3"/>
                          </a:solidFill>
                          <a:latin typeface="Proxima Nova"/>
                          <a:ea typeface="Proxima Nova"/>
                          <a:cs typeface="Proxima Nova"/>
                          <a:sym typeface="Proxima Nova"/>
                        </a:rPr>
                        <a:t>Data Retrieval (DR)</a:t>
                      </a:r>
                      <a:endParaRPr b="1" sz="1800">
                        <a:solidFill>
                          <a:schemeClr val="accent3"/>
                        </a:solidFill>
                        <a:latin typeface="Proxima Nova"/>
                        <a:ea typeface="Proxima Nova"/>
                        <a:cs typeface="Proxima Nova"/>
                        <a:sym typeface="Proxima Nova"/>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GB" sz="1800">
                          <a:solidFill>
                            <a:schemeClr val="accent3"/>
                          </a:solidFill>
                          <a:latin typeface="Proxima Nova"/>
                          <a:ea typeface="Proxima Nova"/>
                          <a:cs typeface="Proxima Nova"/>
                          <a:sym typeface="Proxima Nova"/>
                        </a:rPr>
                        <a:t>Information Retrieval (IR)</a:t>
                      </a:r>
                      <a:endParaRPr b="1" sz="1800">
                        <a:solidFill>
                          <a:schemeClr val="accent3"/>
                        </a:solidFill>
                        <a:latin typeface="Proxima Nova"/>
                        <a:ea typeface="Proxima Nova"/>
                        <a:cs typeface="Proxima Nova"/>
                        <a:sym typeface="Proxima Nova"/>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38125">
                <a:tc>
                  <a:txBody>
                    <a:bodyPr/>
                    <a:lstStyle/>
                    <a:p>
                      <a:pPr indent="0" lvl="0" marL="0" rtl="0" algn="l">
                        <a:lnSpc>
                          <a:spcPct val="115000"/>
                        </a:lnSpc>
                        <a:spcBef>
                          <a:spcPts val="0"/>
                        </a:spcBef>
                        <a:spcAft>
                          <a:spcPts val="0"/>
                        </a:spcAft>
                        <a:buNone/>
                      </a:pPr>
                      <a:r>
                        <a:rPr lang="en-GB" sz="1800">
                          <a:solidFill>
                            <a:schemeClr val="accent3"/>
                          </a:solidFill>
                          <a:latin typeface="Proxima Nova"/>
                          <a:ea typeface="Proxima Nova"/>
                          <a:cs typeface="Proxima Nova"/>
                          <a:sym typeface="Proxima Nova"/>
                        </a:rPr>
                        <a:t>Data Structure</a:t>
                      </a:r>
                      <a:endParaRPr sz="1800">
                        <a:solidFill>
                          <a:schemeClr val="accent3"/>
                        </a:solidFill>
                        <a:latin typeface="Proxima Nova"/>
                        <a:ea typeface="Proxima Nova"/>
                        <a:cs typeface="Proxima Nova"/>
                        <a:sym typeface="Proxima Nova"/>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800">
                          <a:solidFill>
                            <a:schemeClr val="accent3"/>
                          </a:solidFill>
                          <a:latin typeface="Proxima Nova"/>
                          <a:ea typeface="Proxima Nova"/>
                          <a:cs typeface="Proxima Nova"/>
                          <a:sym typeface="Proxima Nova"/>
                        </a:rPr>
                        <a:t>Structured (Database)</a:t>
                      </a:r>
                      <a:endParaRPr sz="1800">
                        <a:solidFill>
                          <a:schemeClr val="accent3"/>
                        </a:solidFill>
                        <a:latin typeface="Proxima Nova"/>
                        <a:ea typeface="Proxima Nova"/>
                        <a:cs typeface="Proxima Nova"/>
                        <a:sym typeface="Proxima Nova"/>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800">
                          <a:solidFill>
                            <a:schemeClr val="accent3"/>
                          </a:solidFill>
                          <a:latin typeface="Proxima Nova"/>
                          <a:ea typeface="Proxima Nova"/>
                          <a:cs typeface="Proxima Nova"/>
                          <a:sym typeface="Proxima Nova"/>
                        </a:rPr>
                        <a:t>Unstructured (Text/Docs)</a:t>
                      </a:r>
                      <a:endParaRPr sz="1800">
                        <a:solidFill>
                          <a:schemeClr val="accent3"/>
                        </a:solidFill>
                        <a:latin typeface="Proxima Nova"/>
                        <a:ea typeface="Proxima Nova"/>
                        <a:cs typeface="Proxima Nova"/>
                        <a:sym typeface="Proxima Nova"/>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38125">
                <a:tc>
                  <a:txBody>
                    <a:bodyPr/>
                    <a:lstStyle/>
                    <a:p>
                      <a:pPr indent="0" lvl="0" marL="0" rtl="0" algn="l">
                        <a:lnSpc>
                          <a:spcPct val="115000"/>
                        </a:lnSpc>
                        <a:spcBef>
                          <a:spcPts val="0"/>
                        </a:spcBef>
                        <a:spcAft>
                          <a:spcPts val="0"/>
                        </a:spcAft>
                        <a:buNone/>
                      </a:pPr>
                      <a:r>
                        <a:rPr lang="en-GB" sz="1800">
                          <a:solidFill>
                            <a:schemeClr val="accent3"/>
                          </a:solidFill>
                          <a:latin typeface="Proxima Nova"/>
                          <a:ea typeface="Proxima Nova"/>
                          <a:cs typeface="Proxima Nova"/>
                          <a:sym typeface="Proxima Nova"/>
                        </a:rPr>
                        <a:t>Query Type</a:t>
                      </a:r>
                      <a:endParaRPr sz="1800">
                        <a:solidFill>
                          <a:schemeClr val="accent3"/>
                        </a:solidFill>
                        <a:latin typeface="Proxima Nova"/>
                        <a:ea typeface="Proxima Nova"/>
                        <a:cs typeface="Proxima Nova"/>
                        <a:sym typeface="Proxima Nova"/>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800">
                          <a:solidFill>
                            <a:schemeClr val="accent3"/>
                          </a:solidFill>
                          <a:latin typeface="Proxima Nova"/>
                          <a:ea typeface="Proxima Nova"/>
                          <a:cs typeface="Proxima Nova"/>
                          <a:sym typeface="Proxima Nova"/>
                        </a:rPr>
                        <a:t>Structured (e.g., SQL)</a:t>
                      </a:r>
                      <a:endParaRPr sz="1800">
                        <a:solidFill>
                          <a:schemeClr val="accent3"/>
                        </a:solidFill>
                        <a:latin typeface="Proxima Nova"/>
                        <a:ea typeface="Proxima Nova"/>
                        <a:cs typeface="Proxima Nova"/>
                        <a:sym typeface="Proxima Nova"/>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800">
                          <a:solidFill>
                            <a:schemeClr val="accent3"/>
                          </a:solidFill>
                          <a:latin typeface="Proxima Nova"/>
                          <a:ea typeface="Proxima Nova"/>
                          <a:cs typeface="Proxima Nova"/>
                          <a:sym typeface="Proxima Nova"/>
                        </a:rPr>
                        <a:t>Keywords/Natural Language</a:t>
                      </a:r>
                      <a:endParaRPr sz="1800">
                        <a:solidFill>
                          <a:schemeClr val="accent3"/>
                        </a:solidFill>
                        <a:latin typeface="Proxima Nova"/>
                        <a:ea typeface="Proxima Nova"/>
                        <a:cs typeface="Proxima Nova"/>
                        <a:sym typeface="Proxima Nova"/>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38125">
                <a:tc>
                  <a:txBody>
                    <a:bodyPr/>
                    <a:lstStyle/>
                    <a:p>
                      <a:pPr indent="0" lvl="0" marL="0" rtl="0" algn="l">
                        <a:lnSpc>
                          <a:spcPct val="115000"/>
                        </a:lnSpc>
                        <a:spcBef>
                          <a:spcPts val="0"/>
                        </a:spcBef>
                        <a:spcAft>
                          <a:spcPts val="0"/>
                        </a:spcAft>
                        <a:buNone/>
                      </a:pPr>
                      <a:r>
                        <a:rPr lang="en-GB" sz="1800">
                          <a:solidFill>
                            <a:schemeClr val="accent3"/>
                          </a:solidFill>
                          <a:latin typeface="Proxima Nova"/>
                          <a:ea typeface="Proxima Nova"/>
                          <a:cs typeface="Proxima Nova"/>
                          <a:sym typeface="Proxima Nova"/>
                        </a:rPr>
                        <a:t>Precision</a:t>
                      </a:r>
                      <a:endParaRPr sz="1800">
                        <a:solidFill>
                          <a:schemeClr val="accent3"/>
                        </a:solidFill>
                        <a:latin typeface="Proxima Nova"/>
                        <a:ea typeface="Proxima Nova"/>
                        <a:cs typeface="Proxima Nova"/>
                        <a:sym typeface="Proxima Nova"/>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800">
                          <a:solidFill>
                            <a:schemeClr val="accent3"/>
                          </a:solidFill>
                          <a:latin typeface="Proxima Nova"/>
                          <a:ea typeface="Proxima Nova"/>
                          <a:cs typeface="Proxima Nova"/>
                          <a:sym typeface="Proxima Nova"/>
                        </a:rPr>
                        <a:t>Exact match needed</a:t>
                      </a:r>
                      <a:endParaRPr sz="1800">
                        <a:solidFill>
                          <a:schemeClr val="accent3"/>
                        </a:solidFill>
                        <a:latin typeface="Proxima Nova"/>
                        <a:ea typeface="Proxima Nova"/>
                        <a:cs typeface="Proxima Nova"/>
                        <a:sym typeface="Proxima Nova"/>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800">
                          <a:solidFill>
                            <a:schemeClr val="accent3"/>
                          </a:solidFill>
                          <a:latin typeface="Proxima Nova"/>
                          <a:ea typeface="Proxima Nova"/>
                          <a:cs typeface="Proxima Nova"/>
                          <a:sym typeface="Proxima Nova"/>
                        </a:rPr>
                        <a:t>Approximate match/Relevance</a:t>
                      </a:r>
                      <a:endParaRPr sz="1800">
                        <a:solidFill>
                          <a:schemeClr val="accent3"/>
                        </a:solidFill>
                        <a:latin typeface="Proxima Nova"/>
                        <a:ea typeface="Proxima Nova"/>
                        <a:cs typeface="Proxima Nova"/>
                        <a:sym typeface="Proxima Nova"/>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38125">
                <a:tc>
                  <a:txBody>
                    <a:bodyPr/>
                    <a:lstStyle/>
                    <a:p>
                      <a:pPr indent="0" lvl="0" marL="0" rtl="0" algn="l">
                        <a:lnSpc>
                          <a:spcPct val="115000"/>
                        </a:lnSpc>
                        <a:spcBef>
                          <a:spcPts val="0"/>
                        </a:spcBef>
                        <a:spcAft>
                          <a:spcPts val="0"/>
                        </a:spcAft>
                        <a:buNone/>
                      </a:pPr>
                      <a:r>
                        <a:rPr lang="en-GB" sz="1800">
                          <a:solidFill>
                            <a:schemeClr val="accent3"/>
                          </a:solidFill>
                          <a:latin typeface="Proxima Nova"/>
                          <a:ea typeface="Proxima Nova"/>
                          <a:cs typeface="Proxima Nova"/>
                          <a:sym typeface="Proxima Nova"/>
                        </a:rPr>
                        <a:t>Result</a:t>
                      </a:r>
                      <a:endParaRPr sz="1800">
                        <a:solidFill>
                          <a:schemeClr val="accent3"/>
                        </a:solidFill>
                        <a:latin typeface="Proxima Nova"/>
                        <a:ea typeface="Proxima Nova"/>
                        <a:cs typeface="Proxima Nova"/>
                        <a:sym typeface="Proxima Nova"/>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800">
                          <a:solidFill>
                            <a:schemeClr val="accent3"/>
                          </a:solidFill>
                          <a:latin typeface="Proxima Nova"/>
                          <a:ea typeface="Proxima Nova"/>
                          <a:cs typeface="Proxima Nova"/>
                          <a:sym typeface="Proxima Nova"/>
                        </a:rPr>
                        <a:t>Precise (Set of records)</a:t>
                      </a:r>
                      <a:endParaRPr sz="1800">
                        <a:solidFill>
                          <a:schemeClr val="accent3"/>
                        </a:solidFill>
                        <a:latin typeface="Proxima Nova"/>
                        <a:ea typeface="Proxima Nova"/>
                        <a:cs typeface="Proxima Nova"/>
                        <a:sym typeface="Proxima Nova"/>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800">
                          <a:solidFill>
                            <a:schemeClr val="accent3"/>
                          </a:solidFill>
                          <a:latin typeface="Proxima Nova"/>
                          <a:ea typeface="Proxima Nova"/>
                          <a:cs typeface="Proxima Nova"/>
                          <a:sym typeface="Proxima Nova"/>
                        </a:rPr>
                        <a:t>Ranked (Relevant items)</a:t>
                      </a:r>
                      <a:endParaRPr sz="1800">
                        <a:solidFill>
                          <a:schemeClr val="accent3"/>
                        </a:solidFill>
                        <a:latin typeface="Proxima Nova"/>
                        <a:ea typeface="Proxima Nova"/>
                        <a:cs typeface="Proxima Nova"/>
                        <a:sym typeface="Proxima Nova"/>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Information Retrieval vs Information Extraction (IE) </a:t>
            </a:r>
            <a:endParaRPr/>
          </a:p>
        </p:txBody>
      </p:sp>
      <p:sp>
        <p:nvSpPr>
          <p:cNvPr id="85" name="Google Shape;85;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Information Extraction goes a step further than IR. </a:t>
            </a:r>
            <a:endParaRPr/>
          </a:p>
          <a:p>
            <a:pPr indent="0" lvl="0" marL="0" rtl="0" algn="l">
              <a:spcBef>
                <a:spcPts val="1200"/>
              </a:spcBef>
              <a:spcAft>
                <a:spcPts val="0"/>
              </a:spcAft>
              <a:buNone/>
            </a:pPr>
            <a:r>
              <a:rPr lang="en-GB"/>
              <a:t>Instead of just finding documents, it digs into those documents to extract specific pieces of information.</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GB"/>
              <a:t>IR: Search and retrieve. (Searching the web, finding research papers)</a:t>
            </a:r>
            <a:endParaRPr/>
          </a:p>
          <a:p>
            <a:pPr indent="0" lvl="0" marL="0" rtl="0" algn="l">
              <a:spcBef>
                <a:spcPts val="1200"/>
              </a:spcBef>
              <a:spcAft>
                <a:spcPts val="1200"/>
              </a:spcAft>
              <a:buNone/>
            </a:pPr>
            <a:r>
              <a:rPr lang="en-GB"/>
              <a:t>IE: Analyze and extract. (Data analysis, extracting facts from reports.)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a:t>Unstructured data:</a:t>
            </a:r>
            <a:endParaRPr/>
          </a:p>
          <a:p>
            <a:pPr indent="-317500" lvl="1" marL="914400" rtl="0" algn="l">
              <a:spcBef>
                <a:spcPts val="0"/>
              </a:spcBef>
              <a:spcAft>
                <a:spcPts val="0"/>
              </a:spcAft>
              <a:buSzPts val="1400"/>
              <a:buChar char="○"/>
            </a:pPr>
            <a:r>
              <a:rPr lang="en-GB"/>
              <a:t>PDF documents, raw text files</a:t>
            </a:r>
            <a:endParaRPr/>
          </a:p>
          <a:p>
            <a:pPr indent="-317500" lvl="1" marL="914400" rtl="0" algn="l">
              <a:spcBef>
                <a:spcPts val="0"/>
              </a:spcBef>
              <a:spcAft>
                <a:spcPts val="0"/>
              </a:spcAft>
              <a:buSzPts val="1400"/>
              <a:buChar char="○"/>
            </a:pPr>
            <a:r>
              <a:rPr lang="en-GB"/>
              <a:t>Images, Audio, Videos</a:t>
            </a:r>
            <a:endParaRPr/>
          </a:p>
          <a:p>
            <a:pPr indent="-342900" lvl="0" marL="457200" rtl="0" algn="l">
              <a:spcBef>
                <a:spcPts val="0"/>
              </a:spcBef>
              <a:spcAft>
                <a:spcPts val="0"/>
              </a:spcAft>
              <a:buSzPts val="1800"/>
              <a:buChar char="●"/>
            </a:pPr>
            <a:r>
              <a:rPr lang="en-GB"/>
              <a:t>Semi Structured data:</a:t>
            </a:r>
            <a:endParaRPr/>
          </a:p>
          <a:p>
            <a:pPr indent="-317500" lvl="1" marL="914400" rtl="0" algn="l">
              <a:spcBef>
                <a:spcPts val="0"/>
              </a:spcBef>
              <a:spcAft>
                <a:spcPts val="0"/>
              </a:spcAft>
              <a:buSzPts val="1400"/>
              <a:buChar char="○"/>
            </a:pPr>
            <a:r>
              <a:rPr lang="en-GB" sz="1400"/>
              <a:t>HTML pages</a:t>
            </a:r>
            <a:endParaRPr sz="1400"/>
          </a:p>
          <a:p>
            <a:pPr indent="-317500" lvl="1" marL="914400" rtl="0" algn="l">
              <a:spcBef>
                <a:spcPts val="0"/>
              </a:spcBef>
              <a:spcAft>
                <a:spcPts val="0"/>
              </a:spcAft>
              <a:buSzPts val="1400"/>
              <a:buChar char="○"/>
            </a:pPr>
            <a:r>
              <a:rPr lang="en-GB"/>
              <a:t>Social Networks</a:t>
            </a:r>
            <a:endParaRPr/>
          </a:p>
          <a:p>
            <a:pPr indent="-317500" lvl="1" marL="914400" rtl="0" algn="l">
              <a:spcBef>
                <a:spcPts val="0"/>
              </a:spcBef>
              <a:spcAft>
                <a:spcPts val="0"/>
              </a:spcAft>
              <a:buSzPts val="1400"/>
              <a:buChar char="○"/>
            </a:pPr>
            <a:r>
              <a:rPr lang="en-GB"/>
              <a:t>XML files, JSON objects </a:t>
            </a:r>
            <a:endParaRPr/>
          </a:p>
          <a:p>
            <a:pPr indent="-317500" lvl="1" marL="914400" rtl="0" algn="l">
              <a:spcBef>
                <a:spcPts val="0"/>
              </a:spcBef>
              <a:spcAft>
                <a:spcPts val="0"/>
              </a:spcAft>
              <a:buSzPts val="1400"/>
              <a:buChar char="○"/>
            </a:pPr>
            <a:r>
              <a:rPr lang="en-GB"/>
              <a:t>CSV, Excel files</a:t>
            </a:r>
            <a:endParaRPr/>
          </a:p>
          <a:p>
            <a:pPr indent="-317500" lvl="1" marL="914400" rtl="0" algn="l">
              <a:spcBef>
                <a:spcPts val="0"/>
              </a:spcBef>
              <a:spcAft>
                <a:spcPts val="0"/>
              </a:spcAft>
              <a:buSzPts val="1400"/>
              <a:buChar char="○"/>
            </a:pPr>
            <a:r>
              <a:rPr lang="en-GB"/>
              <a:t>Email bodies/headers</a:t>
            </a:r>
            <a:endParaRPr/>
          </a:p>
          <a:p>
            <a:pPr indent="0" lvl="0" marL="914400" rtl="0" algn="l">
              <a:spcBef>
                <a:spcPts val="1200"/>
              </a:spcBef>
              <a:spcAft>
                <a:spcPts val="0"/>
              </a:spcAft>
              <a:buNone/>
            </a:pPr>
            <a:r>
              <a:t/>
            </a:r>
            <a:endParaRPr/>
          </a:p>
          <a:p>
            <a:pPr indent="-342900" lvl="0" marL="457200" rtl="0" algn="l">
              <a:spcBef>
                <a:spcPts val="1200"/>
              </a:spcBef>
              <a:spcAft>
                <a:spcPts val="0"/>
              </a:spcAft>
              <a:buSzPts val="1800"/>
              <a:buChar char="●"/>
            </a:pPr>
            <a:r>
              <a:rPr lang="en-GB"/>
              <a:t>Machine generated semi/unstructured data:</a:t>
            </a:r>
            <a:endParaRPr/>
          </a:p>
          <a:p>
            <a:pPr indent="-317500" lvl="1" marL="914400" rtl="0" algn="l">
              <a:spcBef>
                <a:spcPts val="0"/>
              </a:spcBef>
              <a:spcAft>
                <a:spcPts val="0"/>
              </a:spcAft>
              <a:buSzPts val="1400"/>
              <a:buChar char="○"/>
            </a:pPr>
            <a:r>
              <a:rPr lang="en-GB"/>
              <a:t>IoT Sensor Logs, Network Traffic Dumps</a:t>
            </a:r>
            <a:endParaRPr/>
          </a:p>
        </p:txBody>
      </p:sp>
      <p:sp>
        <p:nvSpPr>
          <p:cNvPr id="91" name="Google Shape;91;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Why do we need Information retrieval?</a:t>
            </a:r>
            <a:endParaRPr/>
          </a:p>
          <a:p>
            <a:pPr indent="0" lvl="0" marL="0" rtl="0" algn="l">
              <a:spcBef>
                <a:spcPts val="0"/>
              </a:spcBef>
              <a:spcAft>
                <a:spcPts val="0"/>
              </a:spcAft>
              <a:buNone/>
            </a:pPr>
            <a:r>
              <a:t/>
            </a:r>
            <a:endParaRPr/>
          </a:p>
        </p:txBody>
      </p:sp>
      <p:pic>
        <p:nvPicPr>
          <p:cNvPr id="92" name="Google Shape;92;p18" title="Unstructured-Data-Growth-Chart.jpg"/>
          <p:cNvPicPr preferRelativeResize="0"/>
          <p:nvPr/>
        </p:nvPicPr>
        <p:blipFill>
          <a:blip r:embed="rId3">
            <a:alphaModFix/>
          </a:blip>
          <a:stretch>
            <a:fillRect/>
          </a:stretch>
        </p:blipFill>
        <p:spPr>
          <a:xfrm>
            <a:off x="4307275" y="1017725"/>
            <a:ext cx="4699150" cy="2842949"/>
          </a:xfrm>
          <a:prstGeom prst="rect">
            <a:avLst/>
          </a:prstGeom>
          <a:noFill/>
          <a:ln>
            <a:noFill/>
          </a:ln>
        </p:spPr>
      </p:pic>
      <p:sp>
        <p:nvSpPr>
          <p:cNvPr id="93" name="Google Shape;93;p18"/>
          <p:cNvSpPr txBox="1"/>
          <p:nvPr/>
        </p:nvSpPr>
        <p:spPr>
          <a:xfrm>
            <a:off x="8008325" y="4495325"/>
            <a:ext cx="1059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u="sng">
                <a:solidFill>
                  <a:schemeClr val="hlink"/>
                </a:solidFill>
                <a:latin typeface="Proxima Nova"/>
                <a:ea typeface="Proxima Nova"/>
                <a:cs typeface="Proxima Nova"/>
                <a:sym typeface="Proxima Nova"/>
                <a:hlinkClick r:id="rId4"/>
              </a:rPr>
              <a:t>[Link]</a:t>
            </a:r>
            <a:endParaRPr sz="1200">
              <a:solidFill>
                <a:schemeClr val="accent3"/>
              </a:solidFill>
              <a:latin typeface="Proxima Nova"/>
              <a:ea typeface="Proxima Nova"/>
              <a:cs typeface="Proxima Nova"/>
              <a:sym typeface="Proxima Nov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Different Modalities on which IR is applied:</a:t>
            </a:r>
            <a:endParaRPr/>
          </a:p>
          <a:p>
            <a:pPr indent="0" lvl="0" marL="0" rtl="0" algn="l">
              <a:spcBef>
                <a:spcPts val="1200"/>
              </a:spcBef>
              <a:spcAft>
                <a:spcPts val="0"/>
              </a:spcAft>
              <a:buNone/>
            </a:pPr>
            <a:r>
              <a:rPr b="1" lang="en-GB"/>
              <a:t>Text</a:t>
            </a:r>
            <a:r>
              <a:rPr lang="en-GB"/>
              <a:t>: Documents, Social Media posts, Web Content, Chat and Communication</a:t>
            </a:r>
            <a:endParaRPr/>
          </a:p>
          <a:p>
            <a:pPr indent="0" lvl="0" marL="0" rtl="0" algn="l">
              <a:spcBef>
                <a:spcPts val="1200"/>
              </a:spcBef>
              <a:spcAft>
                <a:spcPts val="0"/>
              </a:spcAft>
              <a:buNone/>
            </a:pPr>
            <a:r>
              <a:rPr b="1" lang="en-GB"/>
              <a:t>MultiMedia Data</a:t>
            </a:r>
            <a:r>
              <a:rPr lang="en-GB"/>
              <a:t>: Image, Video, Audio</a:t>
            </a:r>
            <a:endParaRPr/>
          </a:p>
          <a:p>
            <a:pPr indent="0" lvl="0" marL="0" rtl="0" algn="l">
              <a:spcBef>
                <a:spcPts val="1200"/>
              </a:spcBef>
              <a:spcAft>
                <a:spcPts val="0"/>
              </a:spcAft>
              <a:buNone/>
            </a:pPr>
            <a:r>
              <a:rPr b="1" lang="en-GB"/>
              <a:t>Graph Structure Data</a:t>
            </a:r>
            <a:r>
              <a:rPr lang="en-GB"/>
              <a:t>: Social Networks, Web Page hyperlinks, Molecule Structures</a:t>
            </a:r>
            <a:endParaRPr/>
          </a:p>
          <a:p>
            <a:pPr indent="0" lvl="0" marL="0" rtl="0" algn="l">
              <a:spcBef>
                <a:spcPts val="1200"/>
              </a:spcBef>
              <a:spcAft>
                <a:spcPts val="0"/>
              </a:spcAft>
              <a:buNone/>
            </a:pPr>
            <a:r>
              <a:rPr b="1" lang="en-GB"/>
              <a:t>MultiModal</a:t>
            </a:r>
            <a:r>
              <a:rPr lang="en-GB"/>
              <a:t>: WebPages are Multimodal</a:t>
            </a:r>
            <a:endParaRPr/>
          </a:p>
          <a:p>
            <a:pPr indent="0" lvl="0" marL="0" rtl="0" algn="l">
              <a:spcBef>
                <a:spcPts val="1200"/>
              </a:spcBef>
              <a:spcAft>
                <a:spcPts val="1200"/>
              </a:spcAft>
              <a:buNone/>
            </a:pPr>
            <a:r>
              <a:rPr lang="en-GB"/>
              <a:t>	It contains Texts, Images, Tables, semi structures in the form of HTML, Hyperlinks builds a Graph with each webpage as node</a:t>
            </a:r>
            <a:endParaRPr/>
          </a:p>
        </p:txBody>
      </p:sp>
      <p:sp>
        <p:nvSpPr>
          <p:cNvPr id="99" name="Google Shape;99;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Where do we need Information retrieval?</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Document Searching			</a:t>
            </a:r>
            <a:endParaRPr/>
          </a:p>
          <a:p>
            <a:pPr indent="0" lvl="0" marL="0" rtl="0" algn="l">
              <a:spcBef>
                <a:spcPts val="1200"/>
              </a:spcBef>
              <a:spcAft>
                <a:spcPts val="0"/>
              </a:spcAft>
              <a:buNone/>
            </a:pPr>
            <a:r>
              <a:rPr lang="en-GB"/>
              <a:t>Query: Text		</a:t>
            </a:r>
            <a:endParaRPr/>
          </a:p>
          <a:p>
            <a:pPr indent="0" lvl="0" marL="0" rtl="0" algn="l">
              <a:spcBef>
                <a:spcPts val="1200"/>
              </a:spcBef>
              <a:spcAft>
                <a:spcPts val="0"/>
              </a:spcAft>
              <a:buNone/>
            </a:pPr>
            <a:r>
              <a:rPr lang="en-GB"/>
              <a:t>Corpus: Text</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105" name="Google Shape;105;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Examples of Information Retrieval</a:t>
            </a:r>
            <a:endParaRPr/>
          </a:p>
        </p:txBody>
      </p:sp>
      <p:pic>
        <p:nvPicPr>
          <p:cNvPr id="106" name="Google Shape;106;p20"/>
          <p:cNvPicPr preferRelativeResize="0"/>
          <p:nvPr/>
        </p:nvPicPr>
        <p:blipFill>
          <a:blip r:embed="rId3">
            <a:alphaModFix/>
          </a:blip>
          <a:stretch>
            <a:fillRect/>
          </a:stretch>
        </p:blipFill>
        <p:spPr>
          <a:xfrm>
            <a:off x="4234250" y="1152475"/>
            <a:ext cx="4216250" cy="368875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Searching</a:t>
            </a:r>
            <a:r>
              <a:rPr lang="en-GB"/>
              <a:t> on </a:t>
            </a:r>
            <a:r>
              <a:rPr lang="en-GB"/>
              <a:t>Web Pages	</a:t>
            </a:r>
            <a:r>
              <a:rPr b="1" lang="en-GB"/>
              <a:t>Query</a:t>
            </a:r>
            <a:r>
              <a:rPr lang="en-GB"/>
              <a:t>: Text		</a:t>
            </a:r>
            <a:r>
              <a:rPr b="1" lang="en-GB"/>
              <a:t>Corpus</a:t>
            </a:r>
            <a:r>
              <a:rPr lang="en-GB"/>
              <a:t>: webpages </a:t>
            </a:r>
            <a:endParaRPr/>
          </a:p>
        </p:txBody>
      </p:sp>
      <p:sp>
        <p:nvSpPr>
          <p:cNvPr id="112" name="Google Shape;112;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Examples of Information Retrieval</a:t>
            </a:r>
            <a:endParaRPr/>
          </a:p>
        </p:txBody>
      </p:sp>
      <p:pic>
        <p:nvPicPr>
          <p:cNvPr id="113" name="Google Shape;113;p21" title="Screenshot from 2026-05-10 22-31-36.png"/>
          <p:cNvPicPr preferRelativeResize="0"/>
          <p:nvPr/>
        </p:nvPicPr>
        <p:blipFill>
          <a:blip r:embed="rId3">
            <a:alphaModFix/>
          </a:blip>
          <a:stretch>
            <a:fillRect/>
          </a:stretch>
        </p:blipFill>
        <p:spPr>
          <a:xfrm>
            <a:off x="1353425" y="1629025"/>
            <a:ext cx="5700276" cy="33498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Image Searching </a:t>
            </a:r>
            <a:endParaRPr/>
          </a:p>
          <a:p>
            <a:pPr indent="0" lvl="0" marL="0" rtl="0" algn="l">
              <a:spcBef>
                <a:spcPts val="1200"/>
              </a:spcBef>
              <a:spcAft>
                <a:spcPts val="0"/>
              </a:spcAft>
              <a:buNone/>
            </a:pPr>
            <a:r>
              <a:rPr lang="en-GB"/>
              <a:t>Gallery App - Natural Language Search			</a:t>
            </a:r>
            <a:endParaRPr/>
          </a:p>
          <a:p>
            <a:pPr indent="0" lvl="0" marL="0" rtl="0" algn="l">
              <a:spcBef>
                <a:spcPts val="1200"/>
              </a:spcBef>
              <a:spcAft>
                <a:spcPts val="0"/>
              </a:spcAft>
              <a:buNone/>
            </a:pPr>
            <a:r>
              <a:rPr lang="en-GB"/>
              <a:t>Query: Text</a:t>
            </a:r>
            <a:endParaRPr/>
          </a:p>
          <a:p>
            <a:pPr indent="0" lvl="0" marL="0" rtl="0" algn="l">
              <a:spcBef>
                <a:spcPts val="1200"/>
              </a:spcBef>
              <a:spcAft>
                <a:spcPts val="0"/>
              </a:spcAft>
              <a:buNone/>
            </a:pPr>
            <a:r>
              <a:rPr lang="en-GB"/>
              <a:t>Corpus: Image</a:t>
            </a:r>
            <a:endParaRPr/>
          </a:p>
          <a:p>
            <a:pPr indent="0" lvl="0" marL="0" rtl="0" algn="l">
              <a:spcBef>
                <a:spcPts val="1200"/>
              </a:spcBef>
              <a:spcAft>
                <a:spcPts val="1200"/>
              </a:spcAft>
              <a:buNone/>
            </a:pPr>
            <a:r>
              <a:t/>
            </a:r>
            <a:endParaRPr/>
          </a:p>
        </p:txBody>
      </p:sp>
      <p:sp>
        <p:nvSpPr>
          <p:cNvPr id="119" name="Google Shape;119;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Examples of Information Retrieval</a:t>
            </a:r>
            <a:endParaRPr/>
          </a:p>
        </p:txBody>
      </p:sp>
      <p:pic>
        <p:nvPicPr>
          <p:cNvPr id="120" name="Google Shape;120;p22"/>
          <p:cNvPicPr preferRelativeResize="0"/>
          <p:nvPr/>
        </p:nvPicPr>
        <p:blipFill>
          <a:blip r:embed="rId3">
            <a:alphaModFix/>
          </a:blip>
          <a:stretch>
            <a:fillRect/>
          </a:stretch>
        </p:blipFill>
        <p:spPr>
          <a:xfrm>
            <a:off x="4459475" y="1017725"/>
            <a:ext cx="2384800" cy="3720926"/>
          </a:xfrm>
          <a:prstGeom prst="rect">
            <a:avLst/>
          </a:prstGeom>
          <a:noFill/>
          <a:ln>
            <a:noFill/>
          </a:ln>
        </p:spPr>
      </p:pic>
      <p:sp>
        <p:nvSpPr>
          <p:cNvPr id="121" name="Google Shape;121;p22"/>
          <p:cNvSpPr txBox="1"/>
          <p:nvPr/>
        </p:nvSpPr>
        <p:spPr>
          <a:xfrm>
            <a:off x="5297300" y="4657825"/>
            <a:ext cx="322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u="sng">
                <a:solidFill>
                  <a:schemeClr val="hlink"/>
                </a:solidFill>
                <a:latin typeface="Proxima Nova"/>
                <a:ea typeface="Proxima Nova"/>
                <a:cs typeface="Proxima Nova"/>
                <a:sym typeface="Proxima Nova"/>
                <a:hlinkClick r:id="rId4"/>
              </a:rPr>
              <a:t>[Link]</a:t>
            </a:r>
            <a:endParaRPr>
              <a:solidFill>
                <a:schemeClr val="accent3"/>
              </a:solidFill>
              <a:latin typeface="Proxima Nova"/>
              <a:ea typeface="Proxima Nova"/>
              <a:cs typeface="Proxima Nova"/>
              <a:sym typeface="Proxima Nov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Similar Image Searching</a:t>
            </a:r>
            <a:endParaRPr/>
          </a:p>
          <a:p>
            <a:pPr indent="0" lvl="0" marL="0" rtl="0" algn="l">
              <a:spcBef>
                <a:spcPts val="1200"/>
              </a:spcBef>
              <a:spcAft>
                <a:spcPts val="0"/>
              </a:spcAft>
              <a:buNone/>
            </a:pPr>
            <a:r>
              <a:rPr lang="en-GB"/>
              <a:t>Circle to Search			</a:t>
            </a:r>
            <a:endParaRPr/>
          </a:p>
          <a:p>
            <a:pPr indent="0" lvl="0" marL="0" rtl="0" algn="l">
              <a:spcBef>
                <a:spcPts val="1200"/>
              </a:spcBef>
              <a:spcAft>
                <a:spcPts val="0"/>
              </a:spcAft>
              <a:buNone/>
            </a:pPr>
            <a:r>
              <a:rPr lang="en-GB"/>
              <a:t>Query: Image		</a:t>
            </a:r>
            <a:endParaRPr/>
          </a:p>
          <a:p>
            <a:pPr indent="0" lvl="0" marL="0" rtl="0" algn="l">
              <a:spcBef>
                <a:spcPts val="1200"/>
              </a:spcBef>
              <a:spcAft>
                <a:spcPts val="0"/>
              </a:spcAft>
              <a:buNone/>
            </a:pPr>
            <a:r>
              <a:rPr lang="en-GB"/>
              <a:t>Corpus: Image</a:t>
            </a:r>
            <a:endParaRPr/>
          </a:p>
          <a:p>
            <a:pPr indent="0" lvl="0" marL="0" rtl="0" algn="l">
              <a:spcBef>
                <a:spcPts val="1200"/>
              </a:spcBef>
              <a:spcAft>
                <a:spcPts val="1200"/>
              </a:spcAft>
              <a:buNone/>
            </a:pPr>
            <a:r>
              <a:t/>
            </a:r>
            <a:endParaRPr/>
          </a:p>
        </p:txBody>
      </p:sp>
      <p:sp>
        <p:nvSpPr>
          <p:cNvPr id="127" name="Google Shape;127;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Examples of Information Retrieval</a:t>
            </a:r>
            <a:endParaRPr/>
          </a:p>
        </p:txBody>
      </p:sp>
      <p:pic>
        <p:nvPicPr>
          <p:cNvPr id="128" name="Google Shape;128;p23"/>
          <p:cNvPicPr preferRelativeResize="0"/>
          <p:nvPr/>
        </p:nvPicPr>
        <p:blipFill>
          <a:blip r:embed="rId3">
            <a:alphaModFix/>
          </a:blip>
          <a:stretch>
            <a:fillRect/>
          </a:stretch>
        </p:blipFill>
        <p:spPr>
          <a:xfrm>
            <a:off x="3898574" y="1076763"/>
            <a:ext cx="2270600" cy="3633950"/>
          </a:xfrm>
          <a:prstGeom prst="rect">
            <a:avLst/>
          </a:prstGeom>
          <a:noFill/>
          <a:ln>
            <a:noFill/>
          </a:ln>
        </p:spPr>
      </p:pic>
      <p:pic>
        <p:nvPicPr>
          <p:cNvPr id="129" name="Google Shape;129;p23"/>
          <p:cNvPicPr preferRelativeResize="0"/>
          <p:nvPr/>
        </p:nvPicPr>
        <p:blipFill>
          <a:blip r:embed="rId4">
            <a:alphaModFix/>
          </a:blip>
          <a:stretch>
            <a:fillRect/>
          </a:stretch>
        </p:blipFill>
        <p:spPr>
          <a:xfrm>
            <a:off x="6029625" y="1076751"/>
            <a:ext cx="2270600" cy="3633975"/>
          </a:xfrm>
          <a:prstGeom prst="rect">
            <a:avLst/>
          </a:prstGeom>
          <a:noFill/>
          <a:ln>
            <a:noFill/>
          </a:ln>
        </p:spPr>
      </p:pic>
      <p:sp>
        <p:nvSpPr>
          <p:cNvPr id="130" name="Google Shape;130;p23"/>
          <p:cNvSpPr txBox="1"/>
          <p:nvPr/>
        </p:nvSpPr>
        <p:spPr>
          <a:xfrm>
            <a:off x="5513475" y="4710725"/>
            <a:ext cx="322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u="sng">
                <a:solidFill>
                  <a:schemeClr val="hlink"/>
                </a:solidFill>
                <a:latin typeface="Proxima Nova"/>
                <a:ea typeface="Proxima Nova"/>
                <a:cs typeface="Proxima Nova"/>
                <a:sym typeface="Proxima Nova"/>
                <a:hlinkClick r:id="rId5"/>
              </a:rPr>
              <a:t>[Link]</a:t>
            </a:r>
            <a:endParaRPr>
              <a:solidFill>
                <a:schemeClr val="accent3"/>
              </a:solidFill>
              <a:latin typeface="Proxima Nova"/>
              <a:ea typeface="Proxima Nova"/>
              <a:cs typeface="Proxima Nova"/>
              <a:sym typeface="Proxima Nov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Sub Graph Searching</a:t>
            </a:r>
            <a:endParaRPr/>
          </a:p>
          <a:p>
            <a:pPr indent="0" lvl="0" marL="0" rtl="0" algn="l">
              <a:spcBef>
                <a:spcPts val="1200"/>
              </a:spcBef>
              <a:spcAft>
                <a:spcPts val="0"/>
              </a:spcAft>
              <a:buNone/>
            </a:pPr>
            <a:r>
              <a:rPr lang="en-GB"/>
              <a:t>Query: Graph		Corpus: Graph</a:t>
            </a:r>
            <a:endParaRPr/>
          </a:p>
          <a:p>
            <a:pPr indent="0" lvl="0" marL="0" rtl="0" algn="l">
              <a:spcBef>
                <a:spcPts val="1200"/>
              </a:spcBef>
              <a:spcAft>
                <a:spcPts val="1200"/>
              </a:spcAft>
              <a:buNone/>
            </a:pPr>
            <a:r>
              <a:t/>
            </a:r>
            <a:endParaRPr/>
          </a:p>
        </p:txBody>
      </p:sp>
      <p:sp>
        <p:nvSpPr>
          <p:cNvPr id="136" name="Google Shape;136;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Examples of Information Retrieval</a:t>
            </a:r>
            <a:endParaRPr/>
          </a:p>
        </p:txBody>
      </p:sp>
      <p:pic>
        <p:nvPicPr>
          <p:cNvPr id="137" name="Google Shape;137;p24"/>
          <p:cNvPicPr preferRelativeResize="0"/>
          <p:nvPr/>
        </p:nvPicPr>
        <p:blipFill>
          <a:blip r:embed="rId3">
            <a:alphaModFix/>
          </a:blip>
          <a:stretch>
            <a:fillRect/>
          </a:stretch>
        </p:blipFill>
        <p:spPr>
          <a:xfrm>
            <a:off x="2758400" y="2117688"/>
            <a:ext cx="3181350" cy="2124075"/>
          </a:xfrm>
          <a:prstGeom prst="rect">
            <a:avLst/>
          </a:prstGeom>
          <a:noFill/>
          <a:ln>
            <a:noFill/>
          </a:ln>
        </p:spPr>
      </p:pic>
      <p:sp>
        <p:nvSpPr>
          <p:cNvPr id="138" name="Google Shape;138;p24"/>
          <p:cNvSpPr txBox="1"/>
          <p:nvPr/>
        </p:nvSpPr>
        <p:spPr>
          <a:xfrm>
            <a:off x="3588200" y="4595875"/>
            <a:ext cx="322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u="sng">
                <a:solidFill>
                  <a:schemeClr val="hlink"/>
                </a:solidFill>
                <a:latin typeface="Proxima Nova"/>
                <a:ea typeface="Proxima Nova"/>
                <a:cs typeface="Proxima Nova"/>
                <a:sym typeface="Proxima Nova"/>
                <a:hlinkClick r:id="rId4"/>
              </a:rPr>
              <a:t>[Link]</a:t>
            </a:r>
            <a:endParaRPr>
              <a:solidFill>
                <a:schemeClr val="accent3"/>
              </a:solidFill>
              <a:latin typeface="Proxima Nova"/>
              <a:ea typeface="Proxima Nova"/>
              <a:cs typeface="Proxima Nova"/>
              <a:sym typeface="Proxima Nov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Plan for the sessions</a:t>
            </a:r>
            <a:endParaRPr/>
          </a:p>
        </p:txBody>
      </p:sp>
      <p:sp>
        <p:nvSpPr>
          <p:cNvPr id="144" name="Google Shape;144;p25"/>
          <p:cNvSpPr txBox="1"/>
          <p:nvPr>
            <p:ph idx="1" type="body"/>
          </p:nvPr>
        </p:nvSpPr>
        <p:spPr>
          <a:xfrm>
            <a:off x="0" y="1152475"/>
            <a:ext cx="9144000" cy="38400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GB"/>
              <a:t>Week 1: Introduction and Foundations of IR - "Why" and the "How" of traditional IR systems</a:t>
            </a:r>
            <a:endParaRPr/>
          </a:p>
          <a:p>
            <a:pPr indent="-342900" lvl="0" marL="457200" rtl="0" algn="l">
              <a:spcBef>
                <a:spcPts val="0"/>
              </a:spcBef>
              <a:spcAft>
                <a:spcPts val="0"/>
              </a:spcAft>
              <a:buSzPts val="1800"/>
              <a:buChar char="●"/>
            </a:pPr>
            <a:r>
              <a:rPr lang="en-GB"/>
              <a:t>Week 2: Evaluation &amp; Measurement - building a "Golden Set"</a:t>
            </a:r>
            <a:endParaRPr/>
          </a:p>
          <a:p>
            <a:pPr indent="-342900" lvl="0" marL="457200" rtl="0" algn="l">
              <a:spcBef>
                <a:spcPts val="0"/>
              </a:spcBef>
              <a:spcAft>
                <a:spcPts val="0"/>
              </a:spcAft>
              <a:buSzPts val="1800"/>
              <a:buChar char="●"/>
            </a:pPr>
            <a:r>
              <a:rPr lang="en-GB"/>
              <a:t>Week 3: The Neural Shift – Dense Retrieval - "Bag of words" to "Semantic Search"</a:t>
            </a:r>
            <a:endParaRPr/>
          </a:p>
          <a:p>
            <a:pPr indent="-342900" lvl="0" marL="457200" rtl="0" algn="l">
              <a:spcBef>
                <a:spcPts val="0"/>
              </a:spcBef>
              <a:spcAft>
                <a:spcPts val="0"/>
              </a:spcAft>
              <a:buSzPts val="1800"/>
              <a:buChar char="●"/>
            </a:pPr>
            <a:r>
              <a:rPr lang="en-GB"/>
              <a:t>Week 4: Reranking &amp; Multi-Stage Pipelines - Building of an end to end retrieval pipeline</a:t>
            </a:r>
            <a:endParaRPr/>
          </a:p>
          <a:p>
            <a:pPr indent="-342900" lvl="0" marL="457200" rtl="0" algn="l">
              <a:spcBef>
                <a:spcPts val="0"/>
              </a:spcBef>
              <a:spcAft>
                <a:spcPts val="0"/>
              </a:spcAft>
              <a:buSzPts val="1800"/>
              <a:buChar char="●"/>
            </a:pPr>
            <a:r>
              <a:rPr lang="en-GB"/>
              <a:t>Week 5: Graph-Based &amp; Multimodal Retrieval - Expanding search beyond text</a:t>
            </a:r>
            <a:endParaRPr/>
          </a:p>
          <a:p>
            <a:pPr indent="-342900" lvl="0" marL="457200" rtl="0" algn="l">
              <a:spcBef>
                <a:spcPts val="0"/>
              </a:spcBef>
              <a:spcAft>
                <a:spcPts val="0"/>
              </a:spcAft>
              <a:buSzPts val="1800"/>
              <a:buChar char="●"/>
            </a:pPr>
            <a:r>
              <a:rPr lang="en-GB"/>
              <a:t>Week 6: Vector Databases &amp; Efficient Scaling - The "infrastructure" of AI search</a:t>
            </a:r>
            <a:endParaRPr/>
          </a:p>
          <a:p>
            <a:pPr indent="-342900" lvl="0" marL="457200" rtl="0" algn="l">
              <a:spcBef>
                <a:spcPts val="0"/>
              </a:spcBef>
              <a:spcAft>
                <a:spcPts val="0"/>
              </a:spcAft>
              <a:buSzPts val="1800"/>
              <a:buChar char="●"/>
            </a:pPr>
            <a:r>
              <a:rPr lang="en-GB"/>
              <a:t>Week 7: Hybrid Search - Vector search is not enough</a:t>
            </a:r>
            <a:endParaRPr/>
          </a:p>
          <a:p>
            <a:pPr indent="-342900" lvl="0" marL="457200" rtl="0" algn="l">
              <a:spcBef>
                <a:spcPts val="0"/>
              </a:spcBef>
              <a:spcAft>
                <a:spcPts val="0"/>
              </a:spcAft>
              <a:buSzPts val="1800"/>
              <a:buChar char="●"/>
            </a:pPr>
            <a:r>
              <a:rPr lang="en-GB"/>
              <a:t>Week 8: Advanced Retrieval Techniques - Query expansion, Personalized retrieval</a:t>
            </a:r>
            <a:endParaRPr/>
          </a:p>
          <a:p>
            <a:pPr indent="-342900" lvl="0" marL="457200" rtl="0" algn="l">
              <a:spcBef>
                <a:spcPts val="0"/>
              </a:spcBef>
              <a:spcAft>
                <a:spcPts val="0"/>
              </a:spcAft>
              <a:buSzPts val="1800"/>
              <a:buChar char="●"/>
            </a:pPr>
            <a:r>
              <a:rPr lang="en-GB"/>
              <a:t>Week 9: Retrieval Augmented Generation (RAG) - Connecting search to LLMs</a:t>
            </a:r>
            <a:endParaRPr/>
          </a:p>
          <a:p>
            <a:pPr indent="-342900" lvl="0" marL="457200" rtl="0" algn="l">
              <a:spcBef>
                <a:spcPts val="0"/>
              </a:spcBef>
              <a:spcAft>
                <a:spcPts val="0"/>
              </a:spcAft>
              <a:buSzPts val="1800"/>
              <a:buChar char="●"/>
            </a:pPr>
            <a:r>
              <a:rPr lang="en-GB"/>
              <a:t>Week 10: Productionizing &amp; Future Trends - Bridging the gap between research and "Day 2" operations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How does Information Retrieval works</a:t>
            </a:r>
            <a:endParaRPr/>
          </a:p>
        </p:txBody>
      </p:sp>
      <p:sp>
        <p:nvSpPr>
          <p:cNvPr id="150" name="Google Shape;150;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How does a IR system works</a:t>
            </a:r>
            <a:endParaRPr/>
          </a:p>
          <a:p>
            <a:pPr indent="-342900" lvl="0" marL="457200" rtl="0" algn="l">
              <a:spcBef>
                <a:spcPts val="1200"/>
              </a:spcBef>
              <a:spcAft>
                <a:spcPts val="0"/>
              </a:spcAft>
              <a:buSzPts val="1800"/>
              <a:buChar char="●"/>
            </a:pPr>
            <a:r>
              <a:rPr lang="en-GB"/>
              <a:t>Copus Collection (Web-crawling)</a:t>
            </a:r>
            <a:endParaRPr/>
          </a:p>
          <a:p>
            <a:pPr indent="-342900" lvl="0" marL="457200" rtl="0" algn="l">
              <a:spcBef>
                <a:spcPts val="0"/>
              </a:spcBef>
              <a:spcAft>
                <a:spcPts val="0"/>
              </a:spcAft>
              <a:buSzPts val="1800"/>
              <a:buChar char="●"/>
            </a:pPr>
            <a:r>
              <a:rPr lang="en-GB"/>
              <a:t>Indexing</a:t>
            </a:r>
            <a:endParaRPr/>
          </a:p>
          <a:p>
            <a:pPr indent="-342900" lvl="0" marL="457200" rtl="0" algn="l">
              <a:spcBef>
                <a:spcPts val="0"/>
              </a:spcBef>
              <a:spcAft>
                <a:spcPts val="0"/>
              </a:spcAft>
              <a:buSzPts val="1800"/>
              <a:buChar char="●"/>
            </a:pPr>
            <a:r>
              <a:rPr lang="en-GB"/>
              <a:t>Searching</a:t>
            </a:r>
            <a:endParaRPr/>
          </a:p>
          <a:p>
            <a:pPr indent="0" lvl="0" marL="0" rtl="0" algn="l">
              <a:spcBef>
                <a:spcPts val="1200"/>
              </a:spcBef>
              <a:spcAft>
                <a:spcPts val="0"/>
              </a:spcAft>
              <a:buNone/>
            </a:pPr>
            <a:r>
              <a:rPr lang="en-GB"/>
              <a:t>Goal:</a:t>
            </a:r>
            <a:endParaRPr/>
          </a:p>
          <a:p>
            <a:pPr indent="-342900" lvl="0" marL="457200" rtl="0" algn="l">
              <a:spcBef>
                <a:spcPts val="1200"/>
              </a:spcBef>
              <a:spcAft>
                <a:spcPts val="0"/>
              </a:spcAft>
              <a:buSzPts val="1800"/>
              <a:buChar char="●"/>
            </a:pPr>
            <a:r>
              <a:rPr lang="en-GB"/>
              <a:t>Efficient Indexing</a:t>
            </a:r>
            <a:endParaRPr/>
          </a:p>
          <a:p>
            <a:pPr indent="-342900" lvl="0" marL="457200" rtl="0" algn="l">
              <a:spcBef>
                <a:spcPts val="0"/>
              </a:spcBef>
              <a:spcAft>
                <a:spcPts val="0"/>
              </a:spcAft>
              <a:buSzPts val="1800"/>
              <a:buChar char="●"/>
            </a:pPr>
            <a:r>
              <a:rPr lang="en-GB"/>
              <a:t>Faster and Better Searching</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Document processing</a:t>
            </a:r>
            <a:endParaRPr/>
          </a:p>
          <a:p>
            <a:pPr indent="-342900" lvl="0" marL="457200" rtl="0" algn="l">
              <a:spcBef>
                <a:spcPts val="0"/>
              </a:spcBef>
              <a:spcAft>
                <a:spcPts val="0"/>
              </a:spcAft>
              <a:buSzPts val="1800"/>
              <a:buChar char="-"/>
            </a:pPr>
            <a:r>
              <a:rPr lang="en-GB"/>
              <a:t>Choosing a document unit</a:t>
            </a:r>
            <a:endParaRPr/>
          </a:p>
          <a:p>
            <a:pPr indent="-342900" lvl="0" marL="457200" rtl="0" algn="l">
              <a:spcBef>
                <a:spcPts val="0"/>
              </a:spcBef>
              <a:spcAft>
                <a:spcPts val="0"/>
              </a:spcAft>
              <a:buSzPts val="1800"/>
              <a:buChar char="-"/>
            </a:pPr>
            <a:r>
              <a:rPr lang="en-GB"/>
              <a:t>Preprocessing</a:t>
            </a:r>
            <a:endParaRPr/>
          </a:p>
          <a:p>
            <a:pPr indent="-317500" lvl="1" marL="914400" rtl="0" algn="l">
              <a:spcBef>
                <a:spcPts val="0"/>
              </a:spcBef>
              <a:spcAft>
                <a:spcPts val="0"/>
              </a:spcAft>
              <a:buSzPts val="1400"/>
              <a:buChar char="-"/>
            </a:pPr>
            <a:r>
              <a:rPr lang="en-GB"/>
              <a:t>Lowercasing</a:t>
            </a:r>
            <a:endParaRPr/>
          </a:p>
          <a:p>
            <a:pPr indent="-317500" lvl="1" marL="914400" rtl="0" algn="l">
              <a:spcBef>
                <a:spcPts val="0"/>
              </a:spcBef>
              <a:spcAft>
                <a:spcPts val="0"/>
              </a:spcAft>
              <a:buSzPts val="1400"/>
              <a:buChar char="-"/>
            </a:pPr>
            <a:r>
              <a:rPr lang="en-GB"/>
              <a:t>Lemmatization (uses dictionary lookup to find the meaningful base word. Eg. achieving -&gt; achieve)</a:t>
            </a:r>
            <a:endParaRPr/>
          </a:p>
          <a:p>
            <a:pPr indent="-317500" lvl="1" marL="914400" rtl="0" algn="l">
              <a:spcBef>
                <a:spcPts val="0"/>
              </a:spcBef>
              <a:spcAft>
                <a:spcPts val="0"/>
              </a:spcAft>
              <a:buSzPts val="1400"/>
              <a:buChar char="-"/>
            </a:pPr>
            <a:r>
              <a:rPr lang="en-GB"/>
              <a:t>Stemming	(heuristic process that cuts endings. Eg. achieving -&gt; achiev)</a:t>
            </a:r>
            <a:endParaRPr/>
          </a:p>
          <a:p>
            <a:pPr indent="-317500" lvl="1" marL="914400" rtl="0" algn="l">
              <a:spcBef>
                <a:spcPts val="0"/>
              </a:spcBef>
              <a:spcAft>
                <a:spcPts val="0"/>
              </a:spcAft>
              <a:buSzPts val="1400"/>
              <a:buChar char="-"/>
            </a:pPr>
            <a:r>
              <a:rPr lang="en-GB"/>
              <a:t>Removing non alphanumeric characters</a:t>
            </a:r>
            <a:endParaRPr/>
          </a:p>
          <a:p>
            <a:pPr indent="-342900" lvl="0" marL="457200" rtl="0" algn="l">
              <a:spcBef>
                <a:spcPts val="0"/>
              </a:spcBef>
              <a:spcAft>
                <a:spcPts val="0"/>
              </a:spcAft>
              <a:buSzPts val="1800"/>
              <a:buChar char="-"/>
            </a:pPr>
            <a:r>
              <a:rPr lang="en-GB"/>
              <a:t>Tokenization</a:t>
            </a:r>
            <a:endParaRPr/>
          </a:p>
          <a:p>
            <a:pPr indent="-342900" lvl="0" marL="457200" rtl="0" algn="l">
              <a:spcBef>
                <a:spcPts val="0"/>
              </a:spcBef>
              <a:spcAft>
                <a:spcPts val="0"/>
              </a:spcAft>
              <a:buSzPts val="1800"/>
              <a:buChar char="-"/>
            </a:pPr>
            <a:r>
              <a:rPr lang="en-GB"/>
              <a:t>Query and Document should have same tokenizer</a:t>
            </a:r>
            <a:endParaRPr/>
          </a:p>
        </p:txBody>
      </p:sp>
      <p:sp>
        <p:nvSpPr>
          <p:cNvPr id="156" name="Google Shape;156;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Classical systems for IR: Indexing</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8"/>
          <p:cNvSpPr txBox="1"/>
          <p:nvPr>
            <p:ph idx="1" type="body"/>
          </p:nvPr>
        </p:nvSpPr>
        <p:spPr>
          <a:xfrm>
            <a:off x="311700" y="1152475"/>
            <a:ext cx="8520600" cy="36942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GB"/>
              <a:t>Document retrieval tas</a:t>
            </a:r>
            <a:r>
              <a:rPr lang="en-GB"/>
              <a:t>k</a:t>
            </a:r>
            <a:endParaRPr/>
          </a:p>
          <a:p>
            <a:pPr indent="-342900" lvl="0" marL="457200" rtl="0" algn="l">
              <a:spcBef>
                <a:spcPts val="0"/>
              </a:spcBef>
              <a:spcAft>
                <a:spcPts val="0"/>
              </a:spcAft>
              <a:buSzPts val="1800"/>
              <a:buChar char="●"/>
            </a:pPr>
            <a:r>
              <a:rPr lang="en-GB"/>
              <a:t>Query: set of terms </a:t>
            </a:r>
            <a:endParaRPr/>
          </a:p>
          <a:p>
            <a:pPr indent="-317500" lvl="1" marL="914400" rtl="0" algn="l">
              <a:spcBef>
                <a:spcPts val="0"/>
              </a:spcBef>
              <a:spcAft>
                <a:spcPts val="0"/>
              </a:spcAft>
              <a:buSzPts val="1400"/>
              <a:buChar char="○"/>
            </a:pPr>
            <a:r>
              <a:rPr lang="en-GB"/>
              <a:t>With AND or OR operation</a:t>
            </a:r>
            <a:endParaRPr/>
          </a:p>
          <a:p>
            <a:pPr indent="-342900" lvl="0" marL="457200" rtl="0" algn="l">
              <a:spcBef>
                <a:spcPts val="0"/>
              </a:spcBef>
              <a:spcAft>
                <a:spcPts val="0"/>
              </a:spcAft>
              <a:buSzPts val="1800"/>
              <a:buChar char="●"/>
            </a:pPr>
            <a:r>
              <a:rPr lang="en-GB"/>
              <a:t>Corpus: Text Documents</a:t>
            </a:r>
            <a:endParaRPr/>
          </a:p>
          <a:p>
            <a:pPr indent="-342900" lvl="0" marL="457200" rtl="0" algn="l">
              <a:spcBef>
                <a:spcPts val="0"/>
              </a:spcBef>
              <a:spcAft>
                <a:spcPts val="0"/>
              </a:spcAft>
              <a:buSzPts val="1800"/>
              <a:buChar char="●"/>
            </a:pPr>
            <a:r>
              <a:rPr lang="en-GB"/>
              <a:t>Term-Document matrix</a:t>
            </a:r>
            <a:endParaRPr/>
          </a:p>
          <a:p>
            <a:pPr indent="-342900" lvl="0" marL="457200" rtl="0" algn="l">
              <a:spcBef>
                <a:spcPts val="0"/>
              </a:spcBef>
              <a:spcAft>
                <a:spcPts val="0"/>
              </a:spcAft>
              <a:buSzPts val="1800"/>
              <a:buChar char="●"/>
            </a:pPr>
            <a:r>
              <a:rPr lang="en-GB"/>
              <a:t>Vector Space model</a:t>
            </a:r>
            <a:endParaRPr/>
          </a:p>
          <a:p>
            <a:pPr indent="-342900" lvl="0" marL="457200" rtl="0" algn="l">
              <a:spcBef>
                <a:spcPts val="0"/>
              </a:spcBef>
              <a:spcAft>
                <a:spcPts val="0"/>
              </a:spcAft>
              <a:buSzPts val="1800"/>
              <a:buChar char="●"/>
            </a:pPr>
            <a:r>
              <a:rPr lang="en-GB"/>
              <a:t>Sparse Retrieval</a:t>
            </a:r>
            <a:endParaRPr/>
          </a:p>
          <a:p>
            <a:pPr indent="-317500" lvl="1" marL="914400" rtl="0" algn="l">
              <a:spcBef>
                <a:spcPts val="0"/>
              </a:spcBef>
              <a:spcAft>
                <a:spcPts val="0"/>
              </a:spcAft>
              <a:buSzPts val="1400"/>
              <a:buChar char="○"/>
            </a:pPr>
            <a:r>
              <a:rPr lang="en-GB"/>
              <a:t>Lots of 0s and few 1s</a:t>
            </a:r>
            <a:endParaRPr/>
          </a:p>
          <a:p>
            <a:pPr indent="-342900" lvl="0" marL="457200" rtl="0" algn="l">
              <a:spcBef>
                <a:spcPts val="0"/>
              </a:spcBef>
              <a:spcAft>
                <a:spcPts val="0"/>
              </a:spcAft>
              <a:buSzPts val="1800"/>
              <a:buChar char="●"/>
            </a:pPr>
            <a:r>
              <a:rPr lang="en-GB"/>
              <a:t>Boolean retrieval</a:t>
            </a:r>
            <a:endParaRPr/>
          </a:p>
          <a:p>
            <a:pPr indent="-317500" lvl="1" marL="914400" rtl="0" algn="l">
              <a:spcBef>
                <a:spcPts val="0"/>
              </a:spcBef>
              <a:spcAft>
                <a:spcPts val="0"/>
              </a:spcAft>
              <a:buSzPts val="1400"/>
              <a:buChar char="○"/>
            </a:pPr>
            <a:r>
              <a:rPr lang="en-GB"/>
              <a:t>AND or OR operation</a:t>
            </a:r>
            <a:endParaRPr/>
          </a:p>
          <a:p>
            <a:pPr indent="-342900" lvl="0" marL="457200" rtl="0" algn="l">
              <a:spcBef>
                <a:spcPts val="0"/>
              </a:spcBef>
              <a:spcAft>
                <a:spcPts val="0"/>
              </a:spcAft>
              <a:buSzPts val="1800"/>
              <a:buChar char="●"/>
            </a:pPr>
            <a:r>
              <a:rPr lang="en-GB"/>
              <a:t>E.g. </a:t>
            </a:r>
            <a:endParaRPr/>
          </a:p>
          <a:p>
            <a:pPr indent="-317500" lvl="1" marL="914400" rtl="0" algn="l">
              <a:spcBef>
                <a:spcPts val="0"/>
              </a:spcBef>
              <a:spcAft>
                <a:spcPts val="0"/>
              </a:spcAft>
              <a:buSzPts val="1400"/>
              <a:buChar char="○"/>
            </a:pPr>
            <a:r>
              <a:rPr lang="en-GB"/>
              <a:t>Query: “Caesar </a:t>
            </a:r>
            <a:r>
              <a:rPr b="1" lang="en-GB"/>
              <a:t>AND </a:t>
            </a:r>
            <a:r>
              <a:rPr lang="en-GB"/>
              <a:t>Cleopatra”</a:t>
            </a:r>
            <a:endParaRPr/>
          </a:p>
          <a:p>
            <a:pPr indent="-317500" lvl="1" marL="914400" rtl="0" algn="l">
              <a:spcBef>
                <a:spcPts val="0"/>
              </a:spcBef>
              <a:spcAft>
                <a:spcPts val="0"/>
              </a:spcAft>
              <a:buSzPts val="1400"/>
              <a:buChar char="○"/>
            </a:pPr>
            <a:r>
              <a:rPr lang="en-GB"/>
              <a:t>Retrieved Docs: {“Antony and Cleopatra”}</a:t>
            </a:r>
            <a:endParaRPr/>
          </a:p>
        </p:txBody>
      </p:sp>
      <p:sp>
        <p:nvSpPr>
          <p:cNvPr id="162" name="Google Shape;162;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Classical systems for IR: Indexing</a:t>
            </a:r>
            <a:endParaRPr/>
          </a:p>
        </p:txBody>
      </p:sp>
      <p:pic>
        <p:nvPicPr>
          <p:cNvPr id="163" name="Google Shape;163;p28"/>
          <p:cNvPicPr preferRelativeResize="0"/>
          <p:nvPr/>
        </p:nvPicPr>
        <p:blipFill>
          <a:blip r:embed="rId3">
            <a:alphaModFix/>
          </a:blip>
          <a:stretch>
            <a:fillRect/>
          </a:stretch>
        </p:blipFill>
        <p:spPr>
          <a:xfrm>
            <a:off x="3908400" y="1439425"/>
            <a:ext cx="5100850" cy="2333375"/>
          </a:xfrm>
          <a:prstGeom prst="rect">
            <a:avLst/>
          </a:prstGeom>
          <a:noFill/>
          <a:ln>
            <a:noFill/>
          </a:ln>
        </p:spPr>
      </p:pic>
      <p:sp>
        <p:nvSpPr>
          <p:cNvPr id="164" name="Google Shape;164;p28"/>
          <p:cNvSpPr txBox="1"/>
          <p:nvPr/>
        </p:nvSpPr>
        <p:spPr>
          <a:xfrm>
            <a:off x="8170200" y="4413175"/>
            <a:ext cx="662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u="sng">
                <a:solidFill>
                  <a:schemeClr val="hlink"/>
                </a:solidFill>
                <a:latin typeface="Proxima Nova"/>
                <a:ea typeface="Proxima Nova"/>
                <a:cs typeface="Proxima Nova"/>
                <a:sym typeface="Proxima Nova"/>
                <a:hlinkClick r:id="rId4"/>
              </a:rPr>
              <a:t>[Link]</a:t>
            </a:r>
            <a:endParaRPr>
              <a:solidFill>
                <a:schemeClr val="accent3"/>
              </a:solidFill>
              <a:latin typeface="Proxima Nova"/>
              <a:ea typeface="Proxima Nova"/>
              <a:cs typeface="Proxima Nova"/>
              <a:sym typeface="Proxima Nov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99.9% of cells are zero</a:t>
            </a:r>
            <a:endParaRPr/>
          </a:p>
          <a:p>
            <a:pPr indent="-317500" lvl="1" marL="914400" rtl="0" algn="l">
              <a:spcBef>
                <a:spcPts val="0"/>
              </a:spcBef>
              <a:spcAft>
                <a:spcPts val="0"/>
              </a:spcAft>
              <a:buSzPts val="1400"/>
              <a:buChar char="○"/>
            </a:pPr>
            <a:r>
              <a:rPr lang="en-GB"/>
              <a:t>Why not only store ones</a:t>
            </a:r>
            <a:endParaRPr/>
          </a:p>
          <a:p>
            <a:pPr indent="-342900" lvl="0" marL="457200" rtl="0" algn="l">
              <a:spcBef>
                <a:spcPts val="0"/>
              </a:spcBef>
              <a:spcAft>
                <a:spcPts val="0"/>
              </a:spcAft>
              <a:buSzPts val="1800"/>
              <a:buChar char="●"/>
            </a:pPr>
            <a:r>
              <a:rPr lang="en-GB"/>
              <a:t>Inverted Index</a:t>
            </a:r>
            <a:endParaRPr/>
          </a:p>
          <a:p>
            <a:pPr indent="-317500" lvl="1" marL="914400" rtl="0" algn="l">
              <a:spcBef>
                <a:spcPts val="0"/>
              </a:spcBef>
              <a:spcAft>
                <a:spcPts val="0"/>
              </a:spcAft>
              <a:buSzPts val="1400"/>
              <a:buChar char="○"/>
            </a:pPr>
            <a:r>
              <a:rPr lang="en-GB"/>
              <a:t>Document Dictionary</a:t>
            </a:r>
            <a:endParaRPr/>
          </a:p>
          <a:p>
            <a:pPr indent="-317500" lvl="2" marL="1371600" rtl="0" algn="l">
              <a:spcBef>
                <a:spcPts val="0"/>
              </a:spcBef>
              <a:spcAft>
                <a:spcPts val="0"/>
              </a:spcAft>
              <a:buSzPts val="1400"/>
              <a:buChar char="■"/>
            </a:pPr>
            <a:r>
              <a:rPr lang="en-GB"/>
              <a:t>Mapping between doc and docId</a:t>
            </a:r>
            <a:endParaRPr/>
          </a:p>
          <a:p>
            <a:pPr indent="-317500" lvl="1" marL="914400" rtl="0" algn="l">
              <a:spcBef>
                <a:spcPts val="0"/>
              </a:spcBef>
              <a:spcAft>
                <a:spcPts val="0"/>
              </a:spcAft>
              <a:buSzPts val="1400"/>
              <a:buChar char="○"/>
            </a:pPr>
            <a:r>
              <a:rPr lang="en-GB"/>
              <a:t>Term Dictionary</a:t>
            </a:r>
            <a:endParaRPr/>
          </a:p>
          <a:p>
            <a:pPr indent="-317500" lvl="2" marL="1371600" rtl="0" algn="l">
              <a:spcBef>
                <a:spcPts val="0"/>
              </a:spcBef>
              <a:spcAft>
                <a:spcPts val="0"/>
              </a:spcAft>
              <a:buSzPts val="1400"/>
              <a:buChar char="■"/>
            </a:pPr>
            <a:r>
              <a:rPr lang="en-GB"/>
              <a:t>Mapping between term and termId</a:t>
            </a:r>
            <a:endParaRPr/>
          </a:p>
          <a:p>
            <a:pPr indent="-317500" lvl="1" marL="914400" rtl="0" algn="l">
              <a:spcBef>
                <a:spcPts val="0"/>
              </a:spcBef>
              <a:spcAft>
                <a:spcPts val="0"/>
              </a:spcAft>
              <a:buSzPts val="1400"/>
              <a:buChar char="○"/>
            </a:pPr>
            <a:r>
              <a:rPr lang="en-GB"/>
              <a:t>Posting list</a:t>
            </a:r>
            <a:endParaRPr/>
          </a:p>
          <a:p>
            <a:pPr indent="-317500" lvl="2" marL="1371600" rtl="0" algn="l">
              <a:spcBef>
                <a:spcPts val="0"/>
              </a:spcBef>
              <a:spcAft>
                <a:spcPts val="0"/>
              </a:spcAft>
              <a:buSzPts val="1400"/>
              <a:buChar char="■"/>
            </a:pPr>
            <a:r>
              <a:rPr lang="en-GB"/>
              <a:t>List of doc for each term</a:t>
            </a:r>
            <a:endParaRPr/>
          </a:p>
          <a:p>
            <a:pPr indent="-317500" lvl="2" marL="1371600" rtl="0" algn="l">
              <a:spcBef>
                <a:spcPts val="0"/>
              </a:spcBef>
              <a:spcAft>
                <a:spcPts val="0"/>
              </a:spcAft>
              <a:buSzPts val="1400"/>
              <a:buChar char="■"/>
            </a:pPr>
            <a:r>
              <a:rPr lang="en-GB"/>
              <a:t>Keep </a:t>
            </a:r>
            <a:r>
              <a:rPr lang="en-GB"/>
              <a:t>count of doc frequency of term</a:t>
            </a:r>
            <a:endParaRPr/>
          </a:p>
        </p:txBody>
      </p:sp>
      <p:sp>
        <p:nvSpPr>
          <p:cNvPr id="170" name="Google Shape;170;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Classical systems for IR: Indexing</a:t>
            </a:r>
            <a:endParaRPr/>
          </a:p>
        </p:txBody>
      </p:sp>
      <p:pic>
        <p:nvPicPr>
          <p:cNvPr id="171" name="Google Shape;171;p29"/>
          <p:cNvPicPr preferRelativeResize="0"/>
          <p:nvPr/>
        </p:nvPicPr>
        <p:blipFill rotWithShape="1">
          <a:blip r:embed="rId3">
            <a:alphaModFix/>
          </a:blip>
          <a:srcRect b="22015" l="0" r="0" t="0"/>
          <a:stretch/>
        </p:blipFill>
        <p:spPr>
          <a:xfrm>
            <a:off x="4963700" y="949550"/>
            <a:ext cx="3990199" cy="40111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Classical systems for IR: Boolean Retrieval</a:t>
            </a:r>
            <a:endParaRPr/>
          </a:p>
        </p:txBody>
      </p:sp>
      <p:sp>
        <p:nvSpPr>
          <p:cNvPr id="177" name="Google Shape;177;p30"/>
          <p:cNvSpPr txBox="1"/>
          <p:nvPr>
            <p:ph idx="1" type="body"/>
          </p:nvPr>
        </p:nvSpPr>
        <p:spPr>
          <a:xfrm>
            <a:off x="311700" y="1152475"/>
            <a:ext cx="8520600" cy="637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F</a:t>
            </a:r>
            <a:r>
              <a:rPr lang="en-GB"/>
              <a:t>or a query ``` t1 &amp; t2``` result is intersection of posting list of t1 and t2</a:t>
            </a:r>
            <a:endParaRPr/>
          </a:p>
        </p:txBody>
      </p:sp>
      <p:pic>
        <p:nvPicPr>
          <p:cNvPr id="178" name="Google Shape;178;p30"/>
          <p:cNvPicPr preferRelativeResize="0"/>
          <p:nvPr/>
        </p:nvPicPr>
        <p:blipFill>
          <a:blip r:embed="rId3">
            <a:alphaModFix/>
          </a:blip>
          <a:stretch>
            <a:fillRect/>
          </a:stretch>
        </p:blipFill>
        <p:spPr>
          <a:xfrm>
            <a:off x="999825" y="1744050"/>
            <a:ext cx="3810300" cy="26489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Classical systems for IR: Multiple Term B</a:t>
            </a:r>
            <a:r>
              <a:rPr lang="en-GB"/>
              <a:t>oolean Retrieval</a:t>
            </a:r>
            <a:endParaRPr/>
          </a:p>
        </p:txBody>
      </p:sp>
      <p:sp>
        <p:nvSpPr>
          <p:cNvPr id="184" name="Google Shape;184;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Iteratively perform intersection</a:t>
            </a:r>
            <a:endParaRPr/>
          </a:p>
          <a:p>
            <a:pPr indent="0" lvl="0" marL="0" rtl="0" algn="l">
              <a:spcBef>
                <a:spcPts val="1200"/>
              </a:spcBef>
              <a:spcAft>
                <a:spcPts val="0"/>
              </a:spcAft>
              <a:buNone/>
            </a:pPr>
            <a:r>
              <a:rPr lang="en-GB"/>
              <a:t>In which order we should choose posting lists?</a:t>
            </a:r>
            <a:endParaRPr/>
          </a:p>
          <a:p>
            <a:pPr indent="0" lvl="0" marL="0" rtl="0" algn="l">
              <a:spcBef>
                <a:spcPts val="1200"/>
              </a:spcBef>
              <a:spcAft>
                <a:spcPts val="1200"/>
              </a:spcAft>
              <a:buNone/>
            </a:pPr>
            <a:r>
              <a:t/>
            </a:r>
            <a:endParaRPr/>
          </a:p>
        </p:txBody>
      </p:sp>
      <p:pic>
        <p:nvPicPr>
          <p:cNvPr id="185" name="Google Shape;185;p31"/>
          <p:cNvPicPr preferRelativeResize="0"/>
          <p:nvPr/>
        </p:nvPicPr>
        <p:blipFill>
          <a:blip r:embed="rId3">
            <a:alphaModFix/>
          </a:blip>
          <a:stretch>
            <a:fillRect/>
          </a:stretch>
        </p:blipFill>
        <p:spPr>
          <a:xfrm>
            <a:off x="3375303" y="2247975"/>
            <a:ext cx="4808300" cy="16998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Classical systems for IR: Term Proximity Retrieval</a:t>
            </a:r>
            <a:endParaRPr/>
          </a:p>
        </p:txBody>
      </p:sp>
      <p:sp>
        <p:nvSpPr>
          <p:cNvPr id="191" name="Google Shape;191;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What if you want your query terms to be in close proximity of each other</a:t>
            </a:r>
            <a:endParaRPr/>
          </a:p>
          <a:p>
            <a:pPr indent="0" lvl="0" marL="0" rtl="0" algn="l">
              <a:spcBef>
                <a:spcPts val="1200"/>
              </a:spcBef>
              <a:spcAft>
                <a:spcPts val="0"/>
              </a:spcAft>
              <a:buNone/>
            </a:pPr>
            <a:r>
              <a:rPr lang="en-GB"/>
              <a:t>“Samsung Research”</a:t>
            </a:r>
            <a:endParaRPr/>
          </a:p>
          <a:p>
            <a:pPr indent="0" lvl="0" marL="0" rtl="0" algn="l">
              <a:spcBef>
                <a:spcPts val="1200"/>
              </a:spcBef>
              <a:spcAft>
                <a:spcPts val="0"/>
              </a:spcAft>
              <a:buNone/>
            </a:pPr>
            <a:r>
              <a:rPr lang="en-GB"/>
              <a:t>Both term </a:t>
            </a:r>
            <a:r>
              <a:rPr lang="en-GB"/>
              <a:t>should</a:t>
            </a:r>
            <a:r>
              <a:rPr lang="en-GB"/>
              <a:t> be in proximity of each other</a:t>
            </a:r>
            <a:endParaRPr/>
          </a:p>
          <a:p>
            <a:pPr indent="0" lvl="0" marL="0" rtl="0" algn="l">
              <a:spcBef>
                <a:spcPts val="1200"/>
              </a:spcBef>
              <a:spcAft>
                <a:spcPts val="0"/>
              </a:spcAft>
              <a:buNone/>
            </a:pPr>
            <a:r>
              <a:rPr lang="en-GB"/>
              <a:t>Positional indexes</a:t>
            </a:r>
            <a:endParaRPr/>
          </a:p>
          <a:p>
            <a:pPr indent="-342900" lvl="0" marL="457200" rtl="0" algn="l">
              <a:spcBef>
                <a:spcPts val="1200"/>
              </a:spcBef>
              <a:spcAft>
                <a:spcPts val="0"/>
              </a:spcAft>
              <a:buSzPts val="1800"/>
              <a:buChar char="●"/>
            </a:pPr>
            <a:r>
              <a:rPr lang="en-GB"/>
              <a:t>Store position on which it appears in each doc</a:t>
            </a:r>
            <a:endParaRPr/>
          </a:p>
        </p:txBody>
      </p:sp>
      <p:pic>
        <p:nvPicPr>
          <p:cNvPr id="192" name="Google Shape;192;p32"/>
          <p:cNvPicPr preferRelativeResize="0"/>
          <p:nvPr/>
        </p:nvPicPr>
        <p:blipFill rotWithShape="1">
          <a:blip r:embed="rId3">
            <a:alphaModFix/>
          </a:blip>
          <a:srcRect b="16051" l="0" r="55498" t="0"/>
          <a:stretch/>
        </p:blipFill>
        <p:spPr>
          <a:xfrm>
            <a:off x="5990125" y="1882325"/>
            <a:ext cx="2493525" cy="21442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Classical systems for IR: Ranked Retrieval</a:t>
            </a:r>
            <a:endParaRPr/>
          </a:p>
        </p:txBody>
      </p:sp>
      <p:sp>
        <p:nvSpPr>
          <p:cNvPr id="198" name="Google Shape;198;p33"/>
          <p:cNvSpPr txBox="1"/>
          <p:nvPr>
            <p:ph idx="1" type="body"/>
          </p:nvPr>
        </p:nvSpPr>
        <p:spPr>
          <a:xfrm>
            <a:off x="311700" y="1152475"/>
            <a:ext cx="8520600" cy="3723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Until now it has been Boolean Queries Retrieval</a:t>
            </a:r>
            <a:endParaRPr/>
          </a:p>
          <a:p>
            <a:pPr indent="-317500" lvl="1" marL="914400" rtl="0" algn="l">
              <a:spcBef>
                <a:spcPts val="0"/>
              </a:spcBef>
              <a:spcAft>
                <a:spcPts val="0"/>
              </a:spcAft>
              <a:buSzPts val="1400"/>
              <a:buChar char="○"/>
            </a:pPr>
            <a:r>
              <a:rPr lang="en-GB"/>
              <a:t>Retrieve a set of document </a:t>
            </a:r>
            <a:r>
              <a:rPr lang="en-GB"/>
              <a:t>relevant</a:t>
            </a:r>
            <a:r>
              <a:rPr lang="en-GB"/>
              <a:t> to our query.</a:t>
            </a:r>
            <a:endParaRPr/>
          </a:p>
          <a:p>
            <a:pPr indent="-342900" lvl="0" marL="457200" rtl="0" algn="l">
              <a:spcBef>
                <a:spcPts val="0"/>
              </a:spcBef>
              <a:spcAft>
                <a:spcPts val="0"/>
              </a:spcAft>
              <a:buSzPts val="1800"/>
              <a:buChar char="●"/>
            </a:pPr>
            <a:r>
              <a:rPr lang="en-GB"/>
              <a:t>It was helpful for </a:t>
            </a:r>
            <a:r>
              <a:rPr lang="en-GB"/>
              <a:t>professionals who knew what to search and how to search</a:t>
            </a:r>
            <a:endParaRPr/>
          </a:p>
          <a:p>
            <a:pPr indent="-317500" lvl="1" marL="914400" rtl="0" algn="l">
              <a:spcBef>
                <a:spcPts val="0"/>
              </a:spcBef>
              <a:spcAft>
                <a:spcPts val="0"/>
              </a:spcAft>
              <a:buSzPts val="1400"/>
              <a:buChar char="○"/>
            </a:pPr>
            <a:r>
              <a:rPr lang="en-GB"/>
              <a:t>E.g. Legal documents search</a:t>
            </a:r>
            <a:endParaRPr/>
          </a:p>
          <a:p>
            <a:pPr indent="-317500" lvl="1" marL="914400" rtl="0" algn="l">
              <a:spcBef>
                <a:spcPts val="0"/>
              </a:spcBef>
              <a:spcAft>
                <a:spcPts val="0"/>
              </a:spcAft>
              <a:buSzPts val="1400"/>
              <a:buChar char="○"/>
            </a:pPr>
            <a:r>
              <a:rPr lang="en-GB"/>
              <a:t>E.g. Software documentation search</a:t>
            </a:r>
            <a:endParaRPr/>
          </a:p>
          <a:p>
            <a:pPr indent="-317500" lvl="1" marL="914400" rtl="0" algn="l">
              <a:spcBef>
                <a:spcPts val="0"/>
              </a:spcBef>
              <a:spcAft>
                <a:spcPts val="0"/>
              </a:spcAft>
              <a:buSzPts val="1400"/>
              <a:buChar char="○"/>
            </a:pPr>
            <a:r>
              <a:rPr lang="en-GB"/>
              <a:t>Greater control and transparency over what is retrieved</a:t>
            </a:r>
            <a:endParaRPr/>
          </a:p>
          <a:p>
            <a:pPr indent="-342900" lvl="0" marL="457200" rtl="0" algn="l">
              <a:spcBef>
                <a:spcPts val="0"/>
              </a:spcBef>
              <a:spcAft>
                <a:spcPts val="0"/>
              </a:spcAft>
              <a:buSzPts val="1800"/>
              <a:buChar char="●"/>
            </a:pPr>
            <a:r>
              <a:rPr lang="en-GB"/>
              <a:t>General “text queries”:</a:t>
            </a:r>
            <a:endParaRPr/>
          </a:p>
          <a:p>
            <a:pPr indent="-317500" lvl="1" marL="914400" rtl="0" algn="l">
              <a:spcBef>
                <a:spcPts val="0"/>
              </a:spcBef>
              <a:spcAft>
                <a:spcPts val="0"/>
              </a:spcAft>
              <a:buSzPts val="1400"/>
              <a:buChar char="○"/>
            </a:pPr>
            <a:r>
              <a:rPr lang="en-GB"/>
              <a:t>Better determine the set of terms in the dictionary</a:t>
            </a:r>
            <a:endParaRPr/>
          </a:p>
          <a:p>
            <a:pPr indent="-317500" lvl="1" marL="914400" rtl="0" algn="l">
              <a:spcBef>
                <a:spcPts val="0"/>
              </a:spcBef>
              <a:spcAft>
                <a:spcPts val="0"/>
              </a:spcAft>
              <a:buSzPts val="1400"/>
              <a:buChar char="○"/>
            </a:pPr>
            <a:r>
              <a:rPr lang="en-GB"/>
              <a:t>Search for compounds or phrases that denote a concept such as ``operating system''.</a:t>
            </a:r>
            <a:endParaRPr/>
          </a:p>
          <a:p>
            <a:pPr indent="-317500" lvl="1" marL="914400" rtl="0" algn="l">
              <a:spcBef>
                <a:spcPts val="0"/>
              </a:spcBef>
              <a:spcAft>
                <a:spcPts val="0"/>
              </a:spcAft>
              <a:buSzPts val="1400"/>
              <a:buChar char="○"/>
            </a:pPr>
            <a:r>
              <a:rPr lang="en-GB"/>
              <a:t>Not only whether a term is presence, where it is present, how many times it is present.</a:t>
            </a:r>
            <a:endParaRPr/>
          </a:p>
          <a:p>
            <a:pPr indent="-317500" lvl="1" marL="914400" rtl="0" algn="l">
              <a:spcBef>
                <a:spcPts val="0"/>
              </a:spcBef>
              <a:spcAft>
                <a:spcPts val="0"/>
              </a:spcAft>
              <a:buSzPts val="1400"/>
              <a:buChar char="○"/>
            </a:pPr>
            <a:r>
              <a:rPr lang="en-GB"/>
              <a:t>Instead of retrieving a set of matching documents, order (or ``rank'') the returned results.</a:t>
            </a:r>
            <a:endParaRPr/>
          </a:p>
          <a:p>
            <a:pPr indent="-317500" lvl="1" marL="914400" rtl="0" algn="l">
              <a:spcBef>
                <a:spcPts val="0"/>
              </a:spcBef>
              <a:spcAft>
                <a:spcPts val="0"/>
              </a:spcAft>
              <a:buSzPts val="1400"/>
              <a:buChar char="○"/>
            </a:pPr>
            <a:r>
              <a:rPr lang="en-GB"/>
              <a:t>To rank documents we need to score them.</a:t>
            </a:r>
            <a:endParaRPr/>
          </a:p>
          <a:p>
            <a:pPr indent="-342900" lvl="0" marL="457200" rtl="0" algn="l">
              <a:spcBef>
                <a:spcPts val="0"/>
              </a:spcBef>
              <a:spcAft>
                <a:spcPts val="0"/>
              </a:spcAft>
              <a:buSzPts val="1800"/>
              <a:buChar char="●"/>
            </a:pPr>
            <a:r>
              <a:rPr b="1" lang="en-GB"/>
              <a:t>Bag of Words based retrieval</a:t>
            </a:r>
            <a:r>
              <a:rPr lang="en-GB"/>
              <a:t>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What if we can score each </a:t>
            </a:r>
            <a:r>
              <a:rPr lang="en-GB"/>
              <a:t>document</a:t>
            </a:r>
            <a:r>
              <a:rPr lang="en-GB"/>
              <a:t> in terms of it relevance to a query.</a:t>
            </a:r>
            <a:endParaRPr/>
          </a:p>
          <a:p>
            <a:pPr indent="-342900" lvl="0" marL="457200" rtl="0" algn="l">
              <a:spcBef>
                <a:spcPts val="0"/>
              </a:spcBef>
              <a:spcAft>
                <a:spcPts val="0"/>
              </a:spcAft>
              <a:buSzPts val="1800"/>
              <a:buChar char="●"/>
            </a:pPr>
            <a:r>
              <a:rPr lang="en-GB"/>
              <a:t>Bag of Words retrieval function</a:t>
            </a:r>
            <a:endParaRPr/>
          </a:p>
          <a:p>
            <a:pPr indent="-342900" lvl="0" marL="457200" rtl="0" algn="l">
              <a:spcBef>
                <a:spcPts val="0"/>
              </a:spcBef>
              <a:spcAft>
                <a:spcPts val="0"/>
              </a:spcAft>
              <a:buSzPts val="1800"/>
              <a:buChar char="●"/>
            </a:pPr>
            <a:r>
              <a:rPr b="1" lang="en-GB"/>
              <a:t>TF-IDF (Term Frequency–Inverse Document Frequency)</a:t>
            </a:r>
            <a:endParaRPr b="1"/>
          </a:p>
          <a:p>
            <a:pPr indent="-317500" lvl="1" marL="914400" rtl="0" algn="l">
              <a:spcBef>
                <a:spcPts val="0"/>
              </a:spcBef>
              <a:spcAft>
                <a:spcPts val="0"/>
              </a:spcAft>
              <a:buSzPts val="1400"/>
              <a:buChar char="○"/>
            </a:pPr>
            <a:r>
              <a:rPr lang="en-GB"/>
              <a:t>TF(t, d) = (number of times term t appears in document d) / (total number of terms in d)</a:t>
            </a:r>
            <a:endParaRPr/>
          </a:p>
          <a:p>
            <a:pPr indent="-317500" lvl="1" marL="914400" rtl="0" algn="l">
              <a:spcBef>
                <a:spcPts val="0"/>
              </a:spcBef>
              <a:spcAft>
                <a:spcPts val="0"/>
              </a:spcAft>
              <a:buSzPts val="1400"/>
              <a:buChar char="○"/>
            </a:pPr>
            <a:r>
              <a:rPr lang="en-GB"/>
              <a:t>DF(t) = number of documents that contain term t</a:t>
            </a:r>
            <a:endParaRPr/>
          </a:p>
          <a:p>
            <a:pPr indent="-317500" lvl="1" marL="914400" rtl="0" algn="l">
              <a:spcBef>
                <a:spcPts val="0"/>
              </a:spcBef>
              <a:spcAft>
                <a:spcPts val="0"/>
              </a:spcAft>
              <a:buSzPts val="1400"/>
              <a:buChar char="○"/>
            </a:pPr>
            <a:r>
              <a:rPr lang="en-GB"/>
              <a:t>IDF(t, D) = ln( total number of documents / (1 + DF(t)) ) = ln( |D| / (1 + DF(t)) )</a:t>
            </a:r>
            <a:endParaRPr/>
          </a:p>
          <a:p>
            <a:pPr indent="-317500" lvl="1" marL="914400" rtl="0" algn="l">
              <a:spcBef>
                <a:spcPts val="0"/>
              </a:spcBef>
              <a:spcAft>
                <a:spcPts val="0"/>
              </a:spcAft>
              <a:buSzPts val="1400"/>
              <a:buChar char="○"/>
            </a:pPr>
            <a:r>
              <a:rPr lang="en-GB"/>
              <a:t>TF-IDF(t, d, D) = TF(t, d) × IDF(t, D)</a:t>
            </a:r>
            <a:endParaRPr/>
          </a:p>
          <a:p>
            <a:pPr indent="-317500" lvl="1" marL="914400" rtl="0" algn="l">
              <a:spcBef>
                <a:spcPts val="0"/>
              </a:spcBef>
              <a:spcAft>
                <a:spcPts val="0"/>
              </a:spcAft>
              <a:buSzPts val="1400"/>
              <a:buChar char="○"/>
            </a:pPr>
            <a:r>
              <a:rPr lang="en-GB"/>
              <a:t>TF-IDF(q, d) = sum_{ t in q }{ TF-IDF(t, d) }</a:t>
            </a:r>
            <a:endParaRPr/>
          </a:p>
          <a:p>
            <a:pPr indent="-342900" lvl="0" marL="457200" rtl="0" algn="l">
              <a:spcBef>
                <a:spcPts val="0"/>
              </a:spcBef>
              <a:spcAft>
                <a:spcPts val="0"/>
              </a:spcAft>
              <a:buSzPts val="1800"/>
              <a:buChar char="●"/>
            </a:pPr>
            <a:r>
              <a:rPr lang="en-GB"/>
              <a:t>A term that appears frequently in a particular document but not across the entire collection will receive a high TF-IDF score.</a:t>
            </a:r>
            <a:endParaRPr/>
          </a:p>
        </p:txBody>
      </p:sp>
      <p:sp>
        <p:nvSpPr>
          <p:cNvPr id="204" name="Google Shape;204;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Classical systems for IR: Scoring/Ranking</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Classical systems for IR: Better Scoring</a:t>
            </a:r>
            <a:endParaRPr/>
          </a:p>
        </p:txBody>
      </p:sp>
      <p:sp>
        <p:nvSpPr>
          <p:cNvPr id="210" name="Google Shape;210;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GB"/>
              <a:t>BM25</a:t>
            </a:r>
            <a:r>
              <a:rPr lang="en-GB"/>
              <a:t> is a refinement of TF-IDF</a:t>
            </a:r>
            <a:endParaRPr/>
          </a:p>
          <a:p>
            <a:pPr indent="-342900" lvl="0" marL="457200" rtl="0" algn="l">
              <a:spcBef>
                <a:spcPts val="0"/>
              </a:spcBef>
              <a:spcAft>
                <a:spcPts val="0"/>
              </a:spcAft>
              <a:buSzPts val="1800"/>
              <a:buChar char="●"/>
            </a:pPr>
            <a:r>
              <a:rPr lang="en-GB"/>
              <a:t>f(q_i, D) is the usual term frequency of q_i in document D.</a:t>
            </a:r>
            <a:endParaRPr/>
          </a:p>
          <a:p>
            <a:pPr indent="-342900" lvl="0" marL="457200" rtl="0" algn="l">
              <a:spcBef>
                <a:spcPts val="0"/>
              </a:spcBef>
              <a:spcAft>
                <a:spcPts val="0"/>
              </a:spcAft>
              <a:buSzPts val="1800"/>
              <a:buChar char="●"/>
            </a:pPr>
            <a:r>
              <a:rPr lang="en-GB"/>
              <a:t>k1 and b are free parameters to decide to controls how much extra credit a term gets for appearing one more time.</a:t>
            </a:r>
            <a:endParaRPr/>
          </a:p>
          <a:p>
            <a:pPr indent="-342900" lvl="0" marL="457200" rtl="0" algn="l">
              <a:spcBef>
                <a:spcPts val="0"/>
              </a:spcBef>
              <a:spcAft>
                <a:spcPts val="0"/>
              </a:spcAft>
              <a:buSzPts val="1800"/>
              <a:buChar char="●"/>
            </a:pPr>
            <a:r>
              <a:rPr lang="en-GB"/>
              <a:t>In IDF(qi), n(qi) is the number of document </a:t>
            </a:r>
            <a:r>
              <a:rPr lang="en-GB"/>
              <a:t>containing qi. </a:t>
            </a:r>
            <a:endParaRPr/>
          </a:p>
          <a:p>
            <a:pPr indent="-342900" lvl="0" marL="457200" rtl="0" algn="l">
              <a:spcBef>
                <a:spcPts val="0"/>
              </a:spcBef>
              <a:spcAft>
                <a:spcPts val="0"/>
              </a:spcAft>
              <a:buSzPts val="1800"/>
              <a:buChar char="●"/>
            </a:pPr>
            <a:r>
              <a:rPr lang="en-GB"/>
              <a:t>Aggressively downweights frequent terms and upweights rare terms</a:t>
            </a:r>
            <a:endParaRPr/>
          </a:p>
        </p:txBody>
      </p:sp>
      <p:pic>
        <p:nvPicPr>
          <p:cNvPr id="211" name="Google Shape;211;p35" title="Screenshot from 2026-05-11 07-51-40.png"/>
          <p:cNvPicPr preferRelativeResize="0"/>
          <p:nvPr/>
        </p:nvPicPr>
        <p:blipFill>
          <a:blip r:embed="rId3">
            <a:alphaModFix/>
          </a:blip>
          <a:stretch>
            <a:fillRect/>
          </a:stretch>
        </p:blipFill>
        <p:spPr>
          <a:xfrm>
            <a:off x="2098200" y="4114399"/>
            <a:ext cx="4028974" cy="879200"/>
          </a:xfrm>
          <a:prstGeom prst="rect">
            <a:avLst/>
          </a:prstGeom>
          <a:noFill/>
          <a:ln>
            <a:noFill/>
          </a:ln>
        </p:spPr>
      </p:pic>
      <p:pic>
        <p:nvPicPr>
          <p:cNvPr id="212" name="Google Shape;212;p35" title="Screenshot from 2026-05-11 07-51-29.png"/>
          <p:cNvPicPr preferRelativeResize="0"/>
          <p:nvPr/>
        </p:nvPicPr>
        <p:blipFill>
          <a:blip r:embed="rId4">
            <a:alphaModFix/>
          </a:blip>
          <a:stretch>
            <a:fillRect/>
          </a:stretch>
        </p:blipFill>
        <p:spPr>
          <a:xfrm>
            <a:off x="1283900" y="3279700"/>
            <a:ext cx="5839351" cy="8347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Classical systems for IR: Better Scanning</a:t>
            </a:r>
            <a:endParaRPr/>
          </a:p>
        </p:txBody>
      </p:sp>
      <p:sp>
        <p:nvSpPr>
          <p:cNvPr id="218" name="Google Shape;218;p36"/>
          <p:cNvSpPr txBox="1"/>
          <p:nvPr>
            <p:ph idx="1" type="body"/>
          </p:nvPr>
        </p:nvSpPr>
        <p:spPr>
          <a:xfrm>
            <a:off x="311700" y="1152475"/>
            <a:ext cx="8520600" cy="3858300"/>
          </a:xfrm>
          <a:prstGeom prst="rect">
            <a:avLst/>
          </a:prstGeom>
        </p:spPr>
        <p:txBody>
          <a:bodyPr anchorCtr="0" anchor="t" bIns="91425" lIns="91425" spcFirstLastPara="1" rIns="91425" wrap="square" tIns="91425">
            <a:normAutofit/>
          </a:bodyPr>
          <a:lstStyle/>
          <a:p>
            <a:pPr indent="0" lvl="0" marL="457200" rtl="0" algn="l">
              <a:spcBef>
                <a:spcPts val="0"/>
              </a:spcBef>
              <a:spcAft>
                <a:spcPts val="0"/>
              </a:spcAft>
              <a:buNone/>
            </a:pPr>
            <a:r>
              <a:rPr lang="en-GB"/>
              <a:t>Three primary strategies used to process queries and rank documents</a:t>
            </a:r>
            <a:endParaRPr/>
          </a:p>
          <a:p>
            <a:pPr indent="-342900" lvl="0" marL="457200" rtl="0" algn="l">
              <a:spcBef>
                <a:spcPts val="1200"/>
              </a:spcBef>
              <a:spcAft>
                <a:spcPts val="0"/>
              </a:spcAft>
              <a:buSzPts val="1800"/>
              <a:buAutoNum type="arabicPeriod"/>
            </a:pPr>
            <a:r>
              <a:rPr lang="en-GB"/>
              <a:t>Term-at-a-Time (TAAT):</a:t>
            </a:r>
            <a:endParaRPr/>
          </a:p>
          <a:p>
            <a:pPr indent="-317500" lvl="1" marL="914400" rtl="0" algn="l">
              <a:spcBef>
                <a:spcPts val="0"/>
              </a:spcBef>
              <a:spcAft>
                <a:spcPts val="0"/>
              </a:spcAft>
              <a:buSzPts val="1400"/>
              <a:buChar char="○"/>
            </a:pPr>
            <a:r>
              <a:rPr lang="en-GB"/>
              <a:t>The engine takes the first word of the query, finds every document containing it, and creates (or updates) an "accumulator" for each of those documents. Then it moves to the second word and updates those same accumulators.</a:t>
            </a:r>
            <a:endParaRPr/>
          </a:p>
          <a:p>
            <a:pPr indent="-317500" lvl="1" marL="914400" rtl="0" algn="l">
              <a:spcBef>
                <a:spcPts val="0"/>
              </a:spcBef>
              <a:spcAft>
                <a:spcPts val="0"/>
              </a:spcAft>
              <a:buSzPts val="1400"/>
              <a:buChar char="○"/>
            </a:pPr>
            <a:r>
              <a:rPr b="1" lang="en-GB"/>
              <a:t>Pros</a:t>
            </a:r>
            <a:r>
              <a:rPr lang="en-GB"/>
              <a:t>: Faster for simple scoring models because it involves linear scans of single lists, which is very cache-friendly for CPUs.</a:t>
            </a:r>
            <a:endParaRPr/>
          </a:p>
          <a:p>
            <a:pPr indent="-317500" lvl="1" marL="914400" rtl="0" algn="l">
              <a:spcBef>
                <a:spcPts val="0"/>
              </a:spcBef>
              <a:spcAft>
                <a:spcPts val="0"/>
              </a:spcAft>
              <a:buSzPts val="1400"/>
              <a:buChar char="○"/>
            </a:pPr>
            <a:r>
              <a:rPr b="1" lang="en-GB"/>
              <a:t>Cons</a:t>
            </a:r>
            <a:r>
              <a:rPr lang="en-GB"/>
              <a:t>: Requires significant memory. You must maintain an accumulator for every document that contains at least one query term until the very end of the process. If your index has millions of documents, this becomes expensive.</a:t>
            </a:r>
            <a:endParaRPr/>
          </a:p>
        </p:txBody>
      </p:sp>
      <p:sp>
        <p:nvSpPr>
          <p:cNvPr id="219" name="Google Shape;219;p36"/>
          <p:cNvSpPr txBox="1"/>
          <p:nvPr/>
        </p:nvSpPr>
        <p:spPr>
          <a:xfrm>
            <a:off x="1545850" y="4542075"/>
            <a:ext cx="6797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u="sng">
                <a:solidFill>
                  <a:schemeClr val="hlink"/>
                </a:solidFill>
                <a:latin typeface="Proxima Nova"/>
                <a:ea typeface="Proxima Nova"/>
                <a:cs typeface="Proxima Nova"/>
                <a:sym typeface="Proxima Nova"/>
                <a:hlinkClick r:id="rId3"/>
              </a:rPr>
              <a:t>https://web.stanford.edu/class/cs276/handouts/efficient_scoring_cs276_2013_6.pdf</a:t>
            </a:r>
            <a:endParaRPr>
              <a:solidFill>
                <a:schemeClr val="accent3"/>
              </a:solidFill>
              <a:latin typeface="Proxima Nova"/>
              <a:ea typeface="Proxima Nova"/>
              <a:cs typeface="Proxima Nova"/>
              <a:sym typeface="Proxima Nova"/>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Classical systems for IR: Better Scanning</a:t>
            </a:r>
            <a:endParaRPr/>
          </a:p>
        </p:txBody>
      </p:sp>
      <p:sp>
        <p:nvSpPr>
          <p:cNvPr id="225" name="Google Shape;225;p37"/>
          <p:cNvSpPr txBox="1"/>
          <p:nvPr>
            <p:ph idx="1" type="body"/>
          </p:nvPr>
        </p:nvSpPr>
        <p:spPr>
          <a:xfrm>
            <a:off x="311700" y="1152475"/>
            <a:ext cx="8520600" cy="38583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GB"/>
              <a:t>Document-at-a-Time (DAAT):</a:t>
            </a:r>
            <a:endParaRPr/>
          </a:p>
          <a:p>
            <a:pPr indent="-317500" lvl="1" marL="914400" rtl="0" algn="l">
              <a:spcBef>
                <a:spcPts val="0"/>
              </a:spcBef>
              <a:spcAft>
                <a:spcPts val="0"/>
              </a:spcAft>
              <a:buSzPts val="1400"/>
              <a:buChar char="○"/>
            </a:pPr>
            <a:r>
              <a:rPr lang="en-GB"/>
              <a:t>The engine looks at the first DocID present in all (or any) of the term lists, calculates the total score for that document, and then moves to the next DocID.</a:t>
            </a:r>
            <a:endParaRPr/>
          </a:p>
          <a:p>
            <a:pPr indent="-317500" lvl="1" marL="914400" rtl="0" algn="l">
              <a:spcBef>
                <a:spcPts val="0"/>
              </a:spcBef>
              <a:spcAft>
                <a:spcPts val="0"/>
              </a:spcAft>
              <a:buSzPts val="1400"/>
              <a:buChar char="○"/>
            </a:pPr>
            <a:r>
              <a:rPr b="1" lang="en-GB"/>
              <a:t>Pros</a:t>
            </a:r>
            <a:r>
              <a:rPr lang="en-GB"/>
              <a:t>: Very memory efficient because you only need to keep the score of the current document in memory.</a:t>
            </a:r>
            <a:endParaRPr/>
          </a:p>
          <a:p>
            <a:pPr indent="-317500" lvl="1" marL="914400" rtl="0" algn="l">
              <a:spcBef>
                <a:spcPts val="0"/>
              </a:spcBef>
              <a:spcAft>
                <a:spcPts val="0"/>
              </a:spcAft>
              <a:buSzPts val="1400"/>
              <a:buChar char="○"/>
            </a:pPr>
            <a:r>
              <a:rPr lang="en-GB"/>
              <a:t>We can use Top-K ranking using algorithms like MaxScore or WeakAND.</a:t>
            </a:r>
            <a:endParaRPr/>
          </a:p>
          <a:p>
            <a:pPr indent="-317500" lvl="1" marL="914400" rtl="0" algn="l">
              <a:spcBef>
                <a:spcPts val="0"/>
              </a:spcBef>
              <a:spcAft>
                <a:spcPts val="0"/>
              </a:spcAft>
              <a:buSzPts val="1400"/>
              <a:buChar char="○"/>
            </a:pPr>
            <a:r>
              <a:rPr b="1" lang="en-GB"/>
              <a:t>Cons</a:t>
            </a:r>
            <a:r>
              <a:rPr lang="en-GB"/>
              <a:t>: Can be slow if the query contains many terms, as it requires "zippering" multiple long lists together.</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Classical systems for IR: Better Scanning</a:t>
            </a:r>
            <a:endParaRPr/>
          </a:p>
        </p:txBody>
      </p:sp>
      <p:sp>
        <p:nvSpPr>
          <p:cNvPr id="231" name="Google Shape;231;p38"/>
          <p:cNvSpPr txBox="1"/>
          <p:nvPr>
            <p:ph idx="1" type="body"/>
          </p:nvPr>
        </p:nvSpPr>
        <p:spPr>
          <a:xfrm>
            <a:off x="311700" y="1152475"/>
            <a:ext cx="8520600" cy="38583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Score-at-a-time (newer approaches):</a:t>
            </a:r>
            <a:endParaRPr/>
          </a:p>
          <a:p>
            <a:pPr indent="-336550" lvl="1" marL="914400" rtl="0" algn="l">
              <a:spcBef>
                <a:spcPts val="0"/>
              </a:spcBef>
              <a:spcAft>
                <a:spcPts val="0"/>
              </a:spcAft>
              <a:buSzPts val="1700"/>
              <a:buChar char="○"/>
            </a:pPr>
            <a:r>
              <a:rPr lang="en-GB"/>
              <a:t>T</a:t>
            </a:r>
            <a:r>
              <a:rPr lang="en-GB"/>
              <a:t>he lists are sorted by the impact (contribution to the score) of the term in that document.</a:t>
            </a:r>
            <a:endParaRPr/>
          </a:p>
          <a:p>
            <a:pPr indent="-317500" lvl="1" marL="914400" rtl="0" algn="l">
              <a:spcBef>
                <a:spcPts val="0"/>
              </a:spcBef>
              <a:spcAft>
                <a:spcPts val="0"/>
              </a:spcAft>
              <a:buSzPts val="1400"/>
              <a:buChar char="○"/>
            </a:pPr>
            <a:r>
              <a:rPr lang="en-GB"/>
              <a:t>The engine processes the highest-scoring occurrences across all terms first. It moves through the index based on the </a:t>
            </a:r>
            <a:r>
              <a:rPr b="1" lang="en-GB"/>
              <a:t>magnitude of the score contribution</a:t>
            </a:r>
            <a:r>
              <a:rPr lang="en-GB"/>
              <a:t> rather than the </a:t>
            </a:r>
            <a:r>
              <a:rPr b="1" lang="en-GB"/>
              <a:t>document sequence</a:t>
            </a:r>
            <a:r>
              <a:rPr lang="en-GB"/>
              <a:t> or the </a:t>
            </a:r>
            <a:r>
              <a:rPr b="1" lang="en-GB"/>
              <a:t>term sequence</a:t>
            </a:r>
            <a:r>
              <a:rPr lang="en-GB"/>
              <a:t>.</a:t>
            </a:r>
            <a:endParaRPr/>
          </a:p>
          <a:p>
            <a:pPr indent="-317500" lvl="1" marL="914400" rtl="0" algn="l">
              <a:spcBef>
                <a:spcPts val="0"/>
              </a:spcBef>
              <a:spcAft>
                <a:spcPts val="0"/>
              </a:spcAft>
              <a:buSzPts val="1400"/>
              <a:buChar char="○"/>
            </a:pPr>
            <a:r>
              <a:rPr b="1" lang="en-GB"/>
              <a:t>Pros</a:t>
            </a:r>
            <a:r>
              <a:rPr lang="en-GB"/>
              <a:t>: It allows for extremely aggressive "early termination."</a:t>
            </a:r>
            <a:endParaRPr/>
          </a:p>
          <a:p>
            <a:pPr indent="-317500" lvl="1" marL="914400" rtl="0" algn="l">
              <a:spcBef>
                <a:spcPts val="0"/>
              </a:spcBef>
              <a:spcAft>
                <a:spcPts val="0"/>
              </a:spcAft>
              <a:buSzPts val="1400"/>
              <a:buChar char="○"/>
            </a:pPr>
            <a:r>
              <a:rPr b="1" lang="en-GB"/>
              <a:t>Cons</a:t>
            </a:r>
            <a:r>
              <a:rPr lang="en-GB"/>
              <a:t>: Building and maintaining an impact-sorted index is more complex than a standard DocID-sorted inverted index.</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9"/>
          <p:cNvSpPr txBox="1"/>
          <p:nvPr>
            <p:ph idx="1" type="body"/>
          </p:nvPr>
        </p:nvSpPr>
        <p:spPr>
          <a:xfrm>
            <a:off x="311700" y="11641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The terminology “safe ranking” is used for methods that guarantee that the K docs returned are the K absolute highest scoring documents</a:t>
            </a:r>
            <a:endParaRPr/>
          </a:p>
          <a:p>
            <a:pPr indent="-342900" lvl="0" marL="457200" rtl="0" algn="l">
              <a:spcBef>
                <a:spcPts val="0"/>
              </a:spcBef>
              <a:spcAft>
                <a:spcPts val="0"/>
              </a:spcAft>
              <a:buSzPts val="1800"/>
              <a:buChar char="●"/>
            </a:pPr>
            <a:r>
              <a:rPr lang="en-GB"/>
              <a:t>Is it ok to be non-safe?</a:t>
            </a:r>
            <a:endParaRPr/>
          </a:p>
          <a:p>
            <a:pPr indent="-342900" lvl="0" marL="457200" rtl="0" algn="l">
              <a:spcBef>
                <a:spcPts val="0"/>
              </a:spcBef>
              <a:spcAft>
                <a:spcPts val="0"/>
              </a:spcAft>
              <a:buSzPts val="1800"/>
              <a:buChar char="●"/>
            </a:pPr>
            <a:r>
              <a:rPr lang="en-GB"/>
              <a:t>If it is – then how do we ensure we don’t get too far</a:t>
            </a:r>
            <a:endParaRPr/>
          </a:p>
          <a:p>
            <a:pPr indent="-342900" lvl="0" marL="457200" rtl="0" algn="l">
              <a:spcBef>
                <a:spcPts val="0"/>
              </a:spcBef>
              <a:spcAft>
                <a:spcPts val="0"/>
              </a:spcAft>
              <a:buSzPts val="1800"/>
              <a:buChar char="●"/>
            </a:pPr>
            <a:r>
              <a:rPr lang="en-GB"/>
              <a:t>from the safe solution?</a:t>
            </a:r>
            <a:endParaRPr/>
          </a:p>
          <a:p>
            <a:pPr indent="-342900" lvl="0" marL="457200" rtl="0" algn="l">
              <a:spcBef>
                <a:spcPts val="0"/>
              </a:spcBef>
              <a:spcAft>
                <a:spcPts val="0"/>
              </a:spcAft>
              <a:buSzPts val="1800"/>
              <a:buChar char="●"/>
            </a:pPr>
            <a:r>
              <a:rPr lang="en-GB"/>
              <a:t>How do we measure if we are far?</a:t>
            </a:r>
            <a:endParaRPr/>
          </a:p>
        </p:txBody>
      </p:sp>
      <p:sp>
        <p:nvSpPr>
          <p:cNvPr id="237" name="Google Shape;237;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Safe vs non-safe ranking</a:t>
            </a:r>
            <a:endParaRPr/>
          </a:p>
          <a:p>
            <a:pPr indent="0" lvl="0" marL="0" rtl="0" algn="l">
              <a:spcBef>
                <a:spcPts val="0"/>
              </a:spcBef>
              <a:spcAft>
                <a:spcPts val="0"/>
              </a:spcAft>
              <a:buNone/>
            </a:pPr>
            <a:r>
              <a:t/>
            </a:r>
            <a:endParaRPr/>
          </a:p>
        </p:txBody>
      </p:sp>
      <p:sp>
        <p:nvSpPr>
          <p:cNvPr id="238" name="Google Shape;238;p39"/>
          <p:cNvSpPr txBox="1"/>
          <p:nvPr/>
        </p:nvSpPr>
        <p:spPr>
          <a:xfrm>
            <a:off x="380050" y="3423150"/>
            <a:ext cx="6797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u="sng">
                <a:solidFill>
                  <a:schemeClr val="hlink"/>
                </a:solidFill>
                <a:latin typeface="Proxima Nova"/>
                <a:ea typeface="Proxima Nova"/>
                <a:cs typeface="Proxima Nova"/>
                <a:sym typeface="Proxima Nova"/>
                <a:hlinkClick r:id="rId3"/>
              </a:rPr>
              <a:t>https://web.stanford.edu/class/cs276/handouts/efficient_scoring_cs276_2013_6.pdf</a:t>
            </a:r>
            <a:endParaRPr>
              <a:solidFill>
                <a:schemeClr val="accent3"/>
              </a:solidFill>
              <a:latin typeface="Proxima Nova"/>
              <a:ea typeface="Proxima Nova"/>
              <a:cs typeface="Proxima Nova"/>
              <a:sym typeface="Proxima Nova"/>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Classical systems for IR: Better Indexing</a:t>
            </a:r>
            <a:endParaRPr/>
          </a:p>
        </p:txBody>
      </p:sp>
      <p:sp>
        <p:nvSpPr>
          <p:cNvPr id="244" name="Google Shape;244;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Distributed Indexes [</a:t>
            </a:r>
            <a:r>
              <a:rPr lang="en-GB" u="sng">
                <a:solidFill>
                  <a:schemeClr val="hlink"/>
                </a:solidFill>
                <a:hlinkClick r:id="rId3"/>
              </a:rPr>
              <a:t>Link</a:t>
            </a:r>
            <a:r>
              <a:rPr lang="en-GB"/>
              <a:t>]</a:t>
            </a:r>
            <a:endParaRPr/>
          </a:p>
          <a:p>
            <a:pPr indent="0" lvl="0" marL="0" rtl="0" algn="l">
              <a:spcBef>
                <a:spcPts val="1200"/>
              </a:spcBef>
              <a:spcAft>
                <a:spcPts val="0"/>
              </a:spcAft>
              <a:buNone/>
            </a:pPr>
            <a:r>
              <a:rPr lang="en-GB"/>
              <a:t>Index Compression</a:t>
            </a:r>
            <a:endParaRPr/>
          </a:p>
          <a:p>
            <a:pPr indent="0" lvl="0" marL="457200" rtl="0" algn="l">
              <a:spcBef>
                <a:spcPts val="1200"/>
              </a:spcBef>
              <a:spcAft>
                <a:spcPts val="0"/>
              </a:spcAft>
              <a:buNone/>
            </a:pPr>
            <a:r>
              <a:rPr lang="en-GB"/>
              <a:t>Dictionary Compression</a:t>
            </a:r>
            <a:endParaRPr/>
          </a:p>
          <a:p>
            <a:pPr indent="0" lvl="0" marL="457200" rtl="0" algn="l">
              <a:spcBef>
                <a:spcPts val="1200"/>
              </a:spcBef>
              <a:spcAft>
                <a:spcPts val="0"/>
              </a:spcAft>
              <a:buNone/>
            </a:pPr>
            <a:r>
              <a:rPr lang="en-GB"/>
              <a:t>Posting Lists Compression</a:t>
            </a:r>
            <a:endParaRPr/>
          </a:p>
          <a:p>
            <a:pPr indent="0" lvl="0" marL="0" rtl="0" algn="l">
              <a:spcBef>
                <a:spcPts val="1200"/>
              </a:spcBef>
              <a:spcAft>
                <a:spcPts val="120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Classical systems for IR: Query Processing</a:t>
            </a:r>
            <a:endParaRPr/>
          </a:p>
        </p:txBody>
      </p:sp>
      <p:sp>
        <p:nvSpPr>
          <p:cNvPr id="250" name="Google Shape;250;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457200" lvl="0" marL="0" rtl="0" algn="l">
              <a:spcBef>
                <a:spcPts val="0"/>
              </a:spcBef>
              <a:spcAft>
                <a:spcPts val="0"/>
              </a:spcAft>
              <a:buNone/>
            </a:pPr>
            <a:r>
              <a:rPr lang="en-GB"/>
              <a:t>Use same Tokenizer</a:t>
            </a:r>
            <a:endParaRPr/>
          </a:p>
          <a:p>
            <a:pPr indent="457200" lvl="0" marL="0" rtl="0" algn="l">
              <a:spcBef>
                <a:spcPts val="1200"/>
              </a:spcBef>
              <a:spcAft>
                <a:spcPts val="0"/>
              </a:spcAft>
              <a:buNone/>
            </a:pPr>
            <a:r>
              <a:rPr lang="en-GB"/>
              <a:t>Correct Misspelling</a:t>
            </a:r>
            <a:endParaRPr/>
          </a:p>
          <a:p>
            <a:pPr indent="457200" lvl="0" marL="457200" rtl="0" algn="l">
              <a:spcBef>
                <a:spcPts val="1200"/>
              </a:spcBef>
              <a:spcAft>
                <a:spcPts val="0"/>
              </a:spcAft>
              <a:buNone/>
            </a:pPr>
            <a:r>
              <a:rPr lang="en-GB"/>
              <a:t>I</a:t>
            </a:r>
            <a:r>
              <a:rPr lang="en-GB"/>
              <a:t>solated-term</a:t>
            </a:r>
            <a:endParaRPr/>
          </a:p>
          <a:p>
            <a:pPr indent="457200" lvl="0" marL="0" rtl="0" algn="l">
              <a:spcBef>
                <a:spcPts val="1200"/>
              </a:spcBef>
              <a:spcAft>
                <a:spcPts val="0"/>
              </a:spcAft>
              <a:buNone/>
            </a:pPr>
            <a:r>
              <a:rPr lang="en-GB"/>
              <a:t>	</a:t>
            </a:r>
            <a:r>
              <a:rPr lang="en-GB"/>
              <a:t>Context sensitive</a:t>
            </a:r>
            <a:endParaRPr/>
          </a:p>
          <a:p>
            <a:pPr indent="457200" lvl="0" marL="0" rtl="0" algn="l">
              <a:spcBef>
                <a:spcPts val="1200"/>
              </a:spcBef>
              <a:spcAft>
                <a:spcPts val="0"/>
              </a:spcAft>
              <a:buNone/>
            </a:pPr>
            <a:r>
              <a:t/>
            </a:r>
            <a:endParaRPr/>
          </a:p>
          <a:p>
            <a:pPr indent="0" lvl="0" marL="0" rtl="0" algn="l">
              <a:spcBef>
                <a:spcPts val="1200"/>
              </a:spcBef>
              <a:spcAft>
                <a:spcPts val="0"/>
              </a:spcAft>
              <a:buNone/>
            </a:pPr>
            <a:r>
              <a:t/>
            </a:r>
            <a:endParaRPr i="1" sz="1100">
              <a:solidFill>
                <a:srgbClr val="000000"/>
              </a:solidFill>
              <a:latin typeface="Arial"/>
              <a:ea typeface="Arial"/>
              <a:cs typeface="Arial"/>
              <a:sym typeface="Arial"/>
            </a:endParaRPr>
          </a:p>
          <a:p>
            <a:pPr indent="0" lvl="0" marL="0" rtl="0" algn="l">
              <a:spcBef>
                <a:spcPts val="1200"/>
              </a:spcBef>
              <a:spcAft>
                <a:spcPts val="1200"/>
              </a:spcAft>
              <a:buNone/>
            </a:pPr>
            <a:r>
              <a:rPr lang="en-GB"/>
              <a:t>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Classical systems for IR: Demo</a:t>
            </a:r>
            <a:endParaRPr/>
          </a:p>
        </p:txBody>
      </p:sp>
      <p:sp>
        <p:nvSpPr>
          <p:cNvPr id="256" name="Google Shape;256;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Classical systems for IR: Conclusion</a:t>
            </a:r>
            <a:endParaRPr/>
          </a:p>
        </p:txBody>
      </p:sp>
      <p:sp>
        <p:nvSpPr>
          <p:cNvPr id="262" name="Google Shape;262;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